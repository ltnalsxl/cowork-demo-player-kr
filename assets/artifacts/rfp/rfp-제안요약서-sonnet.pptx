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  <p:sldMasterId id="2147483667" r:id="rId3"/>
    <p:sldMasterId id="2147483679" r:id="rId4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세움 표준 표">
    <a:wholeTbl>
      <a:tcTxStyle b="off">
        <a:font>
          <a:latin typeface="Segoe UI"/>
          <a:ea typeface="맑은 고딕"/>
          <a:cs typeface="맑은 고딕"/>
        </a:font>
        <a:srgbClr val="101828"/>
      </a:tcTxStyle>
      <a:tcStyle>
        <a:tcBdr>
          <a:left>
            <a:ln w="6350" cap="flat" cmpd="sng" algn="ctr">
              <a:solidFill>
                <a:srgbClr val="E3E8EF"/>
              </a:solidFill>
              <a:prstDash val="solid"/>
            </a:ln>
          </a:left>
          <a:right>
            <a:ln w="6350" cap="flat" cmpd="sng" algn="ctr">
              <a:solidFill>
                <a:srgbClr val="E3E8EF"/>
              </a:solidFill>
              <a:prstDash val="solid"/>
            </a:ln>
          </a:right>
          <a:top>
            <a:ln w="6350" cap="flat" cmpd="sng" algn="ctr">
              <a:solidFill>
                <a:srgbClr val="E3E8EF"/>
              </a:solidFill>
              <a:prstDash val="solid"/>
            </a:ln>
          </a:top>
          <a:bottom>
            <a:ln w="6350" cap="flat" cmpd="sng" algn="ctr">
              <a:solidFill>
                <a:srgbClr val="E3E8EF"/>
              </a:solidFill>
              <a:prstDash val="solid"/>
            </a:ln>
          </a:bottom>
          <a:insideH>
            <a:ln w="6350" cap="flat" cmpd="sng" algn="ctr">
              <a:solidFill>
                <a:srgbClr val="E3E8EF"/>
              </a:solidFill>
              <a:prstDash val="solid"/>
            </a:ln>
          </a:insideH>
          <a:insideV>
            <a:ln w="6350" cap="flat" cmpd="sng" algn="ctr">
              <a:solidFill>
                <a:srgbClr val="E3E8EF"/>
              </a:solidFill>
              <a:prstDash val="solid"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7F9FC"/>
          </a:solidFill>
        </a:fill>
      </a:tcStyle>
    </a:band2H>
    <a:firstRow>
      <a:tcTxStyle b="on">
        <a:font>
          <a:latin typeface="Segoe UI Semibold"/>
          <a:ea typeface="맑은 고딕"/>
          <a:cs typeface="맑은 고딕"/>
        </a:font>
        <a:srgbClr val="5B6472"/>
      </a:tcTxStyle>
      <a:tcStyle>
        <a:tcBdr>
          <a:bottom>
            <a:ln w="12700" cap="flat" cmpd="sng" algn="ctr">
              <a:solidFill>
                <a:srgbClr val="2F6BFF"/>
              </a:solidFill>
              <a:prstDash val="solid"/>
            </a:ln>
          </a:bottom>
        </a:tcBdr>
        <a:fill>
          <a:solidFill>
            <a:srgbClr val="EEF1F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n Lee" userId="ed671d90-6ac3-4573-8e21-9a9d6ff37475" providerId="ADAL" clId="{2C6C512C-6DC1-4BD0-9975-D678E0F77F73}"/>
    <pc:docChg chg="modMainMaster">
      <pc:chgData name="Sumin Lee" userId="ed671d90-6ac3-4573-8e21-9a9d6ff37475" providerId="ADAL" clId="{2C6C512C-6DC1-4BD0-9975-D678E0F77F73}" dt="2026-09-02T08:08:09.587" v="2"/>
      <pc:docMkLst>
        <pc:docMk/>
      </pc:docMkLst>
      <pc:sldMasterChg chg="addSp modSp">
        <pc:chgData name="Sumin Lee" userId="ed671d90-6ac3-4573-8e21-9a9d6ff37475" providerId="ADAL" clId="{2C6C512C-6DC1-4BD0-9975-D678E0F77F73}" dt="2026-09-02T08:08:09.562" v="0"/>
        <pc:sldMasterMkLst>
          <pc:docMk/>
          <pc:sldMasterMk cId="58279855" sldId="2147483655"/>
        </pc:sldMasterMkLst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2" creationId="{F2E16337-098A-F2EB-0168-8AD1650A5175}"/>
          </ac:spMkLst>
        </pc:spChg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3" creationId="{E1EEE01C-1E50-6605-9B41-7EE3FD116356}"/>
          </ac:spMkLst>
        </pc:spChg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4" creationId="{663A7042-8F4B-52AA-4892-2DB5A67AE736}"/>
          </ac:spMkLst>
        </pc:spChg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5" creationId="{5FC44469-6303-E3CB-51C8-210A932C7962}"/>
          </ac:spMkLst>
        </pc:spChg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6" creationId="{B1B430C5-00AC-2AD0-4B29-034CC13A8CB1}"/>
          </ac:spMkLst>
        </pc:spChg>
      </pc:sldMasterChg>
      <pc:sldMasterChg chg="addSp modSp">
        <pc:chgData name="Sumin Lee" userId="ed671d90-6ac3-4573-8e21-9a9d6ff37475" providerId="ADAL" clId="{2C6C512C-6DC1-4BD0-9975-D678E0F77F73}" dt="2026-09-02T08:08:09.576" v="1"/>
        <pc:sldMasterMkLst>
          <pc:docMk/>
          <pc:sldMasterMk cId="3196101263" sldId="2147483667"/>
        </pc:sldMasterMkLst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2" creationId="{FB0D4C45-268A-2963-D345-BAC19DA9DD43}"/>
          </ac:spMkLst>
        </pc:spChg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3" creationId="{5EA8A656-D427-A03E-0186-84311765A827}"/>
          </ac:spMkLst>
        </pc:spChg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4" creationId="{39C63A30-78B4-1B80-F9D4-3D20574740AF}"/>
          </ac:spMkLst>
        </pc:spChg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5" creationId="{DFA81E40-DEDA-CA78-48C5-340B2AF8377D}"/>
          </ac:spMkLst>
        </pc:spChg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6" creationId="{5290CF12-4457-2F4B-C294-1797F8A0BBF7}"/>
          </ac:spMkLst>
        </pc:spChg>
      </pc:sldMasterChg>
      <pc:sldMasterChg chg="addSp modSp">
        <pc:chgData name="Sumin Lee" userId="ed671d90-6ac3-4573-8e21-9a9d6ff37475" providerId="ADAL" clId="{2C6C512C-6DC1-4BD0-9975-D678E0F77F73}" dt="2026-09-02T08:08:09.587" v="2"/>
        <pc:sldMasterMkLst>
          <pc:docMk/>
          <pc:sldMasterMk cId="2771451828" sldId="2147483679"/>
        </pc:sldMasterMkLst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2" creationId="{27EF07DD-AF55-5205-5AE2-1AE17D7368F1}"/>
          </ac:spMkLst>
        </pc:spChg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3" creationId="{F967EFD2-B306-A6EC-8B06-8A9D504D6BA0}"/>
          </ac:spMkLst>
        </pc:spChg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4" creationId="{095097F8-5F85-2D98-6522-76DFFCFC535C}"/>
          </ac:spMkLst>
        </pc:spChg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5" creationId="{2DF65E65-0486-3E20-170D-FEB89A430269}"/>
          </ac:spMkLst>
        </pc:spChg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6" creationId="{4D9C2735-16EA-0BED-9ADD-089170415092}"/>
          </ac:spMkLst>
        </pc:sp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103120"/>
            <a:ext cx="9692640" cy="1920240"/>
          </a:xfrm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4000" b="1" spc="-20">
                <a:solidFill>
                  <a:srgbClr val="FFFFFF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제안서 제목을 입력합니다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4224528"/>
            <a:ext cx="8595360" cy="457200"/>
          </a:xfrm>
        </p:spPr>
        <p:txBody>
          <a:bodyPr wrap="square" lIns="0" tIns="0" r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1700" b="0" spc="-20">
                <a:solidFill>
                  <a:srgbClr val="A9B6C8"/>
                </a:solidFill>
                <a:latin typeface="Segoe UI"/>
                <a:ea typeface="맑은 고딕"/>
                <a:cs typeface="맑은 고딕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</a:lstStyle>
          <a:p>
            <a:pPr algn="l"/>
            <a:r>
              <a:t>부제 또는 발주기관명</a:t>
            </a:r>
            <a:endParaRPr lang="en-US"/>
          </a:p>
        </p:txBody>
      </p:sp>
      <p:sp>
        <p:nvSpPr>
          <p:cNvPr id="4" name="bg"/>
          <p:cNvSpPr/>
          <p:nvPr/>
        </p:nvSpPr>
        <p:spPr>
          <a:xfrm>
            <a:off x="658368" y="1883664"/>
            <a:ext cx="100584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"/>
          <p:cNvSpPr txBox="1"/>
          <p:nvPr/>
        </p:nvSpPr>
        <p:spPr>
          <a:xfrm>
            <a:off x="658368" y="4937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A9B6C8"/>
                </a:solidFill>
                <a:latin typeface="Segoe UI"/>
                <a:ea typeface="맑은 고딕"/>
                <a:cs typeface="맑은 고딕"/>
              </a:rPr>
              <a:t>제출일 · 담당 부서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섹션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017520"/>
            <a:ext cx="9144000" cy="868680"/>
          </a:xfrm>
        </p:spPr>
        <p:txBody>
          <a:bodyPr wrap="square" lIns="0" tIns="0" r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3400" b="1" spc="-20">
                <a:solidFill>
                  <a:srgbClr val="FFFFFF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섹션 제목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4041648"/>
            <a:ext cx="8229600" cy="457200"/>
          </a:xfrm>
        </p:spPr>
        <p:txBody>
          <a:bodyPr wrap="square" lIns="0" tIns="0" r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1300" b="0" spc="-20">
                <a:solidFill>
                  <a:srgbClr val="A9B6C8"/>
                </a:solidFill>
                <a:latin typeface="Segoe UI"/>
                <a:ea typeface="맑은 고딕"/>
                <a:cs typeface="맑은 고딕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</a:lstStyle>
          <a:p>
            <a:pPr lvl="0" algn="l"/>
            <a:r>
              <a:t>이 섹션에서 다루는 내용을 한 줄로</a:t>
            </a:r>
          </a:p>
        </p:txBody>
      </p:sp>
      <p:sp>
        <p:nvSpPr>
          <p:cNvPr id="4" name="bg"/>
          <p:cNvSpPr/>
          <p:nvPr/>
        </p:nvSpPr>
        <p:spPr>
          <a:xfrm>
            <a:off x="658368" y="2761488"/>
            <a:ext cx="82296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2798064"/>
            <a:ext cx="9144000" cy="1097280"/>
          </a:xfrm>
        </p:spPr>
        <p:txBody>
          <a:bodyPr wrap="square" lIns="0" tIns="0" r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3400" b="1" spc="-20">
                <a:solidFill>
                  <a:srgbClr val="FFFFFF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감사합니다</a:t>
            </a:r>
            <a:endParaRPr lang="en-US"/>
          </a:p>
        </p:txBody>
      </p:sp>
      <p:sp>
        <p:nvSpPr>
          <p:cNvPr id="3" name="tx"/>
          <p:cNvSpPr txBox="1"/>
          <p:nvPr/>
        </p:nvSpPr>
        <p:spPr>
          <a:xfrm>
            <a:off x="658368" y="3986784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A9B6C8"/>
                </a:solidFill>
                <a:latin typeface="Segoe UI"/>
                <a:ea typeface="맑은 고딕"/>
                <a:cs typeface="맑은 고딕"/>
              </a:rPr>
              <a:t>문의 · proposal@seum.example.com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과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98C94-49EE-6770-44F1-95248B852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슬라이드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A40F65-3676-CCE7-BA3D-5CB2ADC05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591056"/>
            <a:ext cx="10872216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본문을 입력합니다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75801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단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7D815-C032-0385-2A7B-62B2A2A07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슬라이드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63355-9492-0273-1FCB-3F84CD39B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368" y="1591056"/>
            <a:ext cx="5230368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왼쪽 본문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44CF3D-9A34-5582-A9E0-DF10177FA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0216" y="1591056"/>
            <a:ext cx="5230368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오른쪽 본문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472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705A4-D3DF-4F08-044F-865B6607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슬라이드 제목</a:t>
            </a:r>
          </a:p>
        </p:txBody>
      </p:sp>
      <p:sp>
        <p:nvSpPr>
          <p:cNvPr id="3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8923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93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설명과 도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0E402-42F9-E37E-8BCC-93591309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anchor="t" wrap="square" lIns="0" rIns="0" tIns="0" bIns="0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슬라이드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2F09B-339A-88A8-064A-390D2B909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591056"/>
            <a:ext cx="7315200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도해 또는 표를 넣습니다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31566-C9A9-12F2-DD3C-EF55121DA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03920" y="1591056"/>
            <a:ext cx="3026664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600"/>
              </a:spcBef>
              <a:buNone/>
              <a:defRPr sz="13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1pPr>
            <a:lvl2pPr marL="457200" indent="0">
              <a:buNone/>
              <a:defRPr sz="1400"/>
            </a:lvl2pPr>
          </a:lstStyle>
          <a:p>
            <a:pPr lvl="0" algn="l"/>
            <a:r>
              <a:t>읽는 사람이 무엇을 봐야 하는지 적습니다</a:t>
            </a:r>
          </a:p>
        </p:txBody>
      </p:sp>
      <p:sp>
        <p:nvSpPr>
          <p:cNvPr id="5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divider"/>
          <p:cNvSpPr/>
          <p:nvPr/>
        </p:nvSpPr>
        <p:spPr>
          <a:xfrm>
            <a:off x="8247888" y="1591056"/>
            <a:ext cx="27432" cy="444398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4229297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지표 넉 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FA150-3D45-655D-AB83-367F15339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핵심 지표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C3B3D4-FB39-3076-07E9-98A8035E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3602736"/>
            <a:ext cx="10872216" cy="2395728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숫자가 무엇을 뜻하는지 적습니다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pi-0"/>
          <p:cNvSpPr/>
          <p:nvPr/>
        </p:nvSpPr>
        <p:spPr>
          <a:xfrm>
            <a:off x="658368" y="1700784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kpi-bar-0"/>
          <p:cNvSpPr/>
          <p:nvPr/>
        </p:nvSpPr>
        <p:spPr>
          <a:xfrm>
            <a:off x="658368" y="1700784"/>
            <a:ext cx="2587752" cy="4114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kpi-l-0"/>
          <p:cNvSpPr txBox="1"/>
          <p:nvPr/>
        </p:nvSpPr>
        <p:spPr>
          <a:xfrm>
            <a:off x="877824" y="19385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지표 이름</a:t>
            </a:r>
          </a:p>
        </p:txBody>
      </p:sp>
      <p:sp>
        <p:nvSpPr>
          <p:cNvPr id="8" name="kpi-v-0"/>
          <p:cNvSpPr txBox="1"/>
          <p:nvPr/>
        </p:nvSpPr>
        <p:spPr>
          <a:xfrm>
            <a:off x="877824" y="22677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3000" b="1" spc="-20" dirty="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rPr>
              <a:t>00</a:t>
            </a:r>
          </a:p>
        </p:txBody>
      </p:sp>
      <p:sp>
        <p:nvSpPr>
          <p:cNvPr id="9" name="kpi-1"/>
          <p:cNvSpPr/>
          <p:nvPr/>
        </p:nvSpPr>
        <p:spPr>
          <a:xfrm>
            <a:off x="3447288" y="1700784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kpi-bar-1"/>
          <p:cNvSpPr/>
          <p:nvPr/>
        </p:nvSpPr>
        <p:spPr>
          <a:xfrm>
            <a:off x="3447288" y="1700784"/>
            <a:ext cx="2587752" cy="4114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pi-l-1"/>
          <p:cNvSpPr txBox="1"/>
          <p:nvPr/>
        </p:nvSpPr>
        <p:spPr>
          <a:xfrm>
            <a:off x="3666744" y="19385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지표 이름</a:t>
            </a:r>
          </a:p>
        </p:txBody>
      </p:sp>
      <p:sp>
        <p:nvSpPr>
          <p:cNvPr id="12" name="kpi-v-1"/>
          <p:cNvSpPr txBox="1"/>
          <p:nvPr/>
        </p:nvSpPr>
        <p:spPr>
          <a:xfrm>
            <a:off x="3666744" y="22677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3000" b="1" spc="-20" dirty="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rPr>
              <a:t>00</a:t>
            </a:r>
          </a:p>
        </p:txBody>
      </p:sp>
      <p:sp>
        <p:nvSpPr>
          <p:cNvPr id="13" name="kpi-2"/>
          <p:cNvSpPr/>
          <p:nvPr/>
        </p:nvSpPr>
        <p:spPr>
          <a:xfrm>
            <a:off x="6236208" y="1700784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kpi-bar-2"/>
          <p:cNvSpPr/>
          <p:nvPr/>
        </p:nvSpPr>
        <p:spPr>
          <a:xfrm>
            <a:off x="6236208" y="1700784"/>
            <a:ext cx="2587752" cy="4114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kpi-l-2"/>
          <p:cNvSpPr txBox="1"/>
          <p:nvPr/>
        </p:nvSpPr>
        <p:spPr>
          <a:xfrm>
            <a:off x="6455664" y="19385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지표 이름</a:t>
            </a:r>
          </a:p>
        </p:txBody>
      </p:sp>
      <p:sp>
        <p:nvSpPr>
          <p:cNvPr id="16" name="kpi-v-2"/>
          <p:cNvSpPr txBox="1"/>
          <p:nvPr/>
        </p:nvSpPr>
        <p:spPr>
          <a:xfrm>
            <a:off x="6455664" y="22677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3000" b="1" spc="-20" dirty="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rPr>
              <a:t>00</a:t>
            </a:r>
          </a:p>
        </p:txBody>
      </p:sp>
      <p:sp>
        <p:nvSpPr>
          <p:cNvPr id="17" name="kpi-3"/>
          <p:cNvSpPr/>
          <p:nvPr/>
        </p:nvSpPr>
        <p:spPr>
          <a:xfrm>
            <a:off x="9025128" y="1700784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kpi-bar-3"/>
          <p:cNvSpPr/>
          <p:nvPr/>
        </p:nvSpPr>
        <p:spPr>
          <a:xfrm>
            <a:off x="9025128" y="1700784"/>
            <a:ext cx="2587752" cy="4114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kpi-l-3"/>
          <p:cNvSpPr txBox="1"/>
          <p:nvPr/>
        </p:nvSpPr>
        <p:spPr>
          <a:xfrm>
            <a:off x="9244584" y="19385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지표 이름</a:t>
            </a:r>
          </a:p>
        </p:txBody>
      </p:sp>
      <p:sp>
        <p:nvSpPr>
          <p:cNvPr id="20" name="kpi-v-3"/>
          <p:cNvSpPr txBox="1"/>
          <p:nvPr/>
        </p:nvSpPr>
        <p:spPr>
          <a:xfrm>
            <a:off x="9244584" y="22677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3000" b="1" spc="-20" dirty="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29000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차트와 해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7C973-B3DE-DD4E-145E-F7C54F942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차트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9E862-5B1C-5F5F-4382-8E1C7A74B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368" y="1591056"/>
            <a:ext cx="6949440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6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</a:lstStyle>
          <a:p>
            <a:pPr lvl="0" algn="l"/>
            <a:r>
              <a:t>차트를 넣습니다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9C056D-189A-E546-F5C9-DDF600ECF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73568" y="1591056"/>
            <a:ext cx="3557016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이 차트에서 읽어야 할 것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411246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표 한 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C4545-B792-17AE-35CE-63FECD374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표 제목</a:t>
            </a:r>
          </a:p>
        </p:txBody>
      </p:sp>
      <p:sp>
        <p:nvSpPr>
          <p:cNvPr id="3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037908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부록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F0FA2-A6C9-8CFD-DE5C-D6ADA724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4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부록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43F0EF-4F22-FCE0-D5C8-2C17ACB63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591056"/>
            <a:ext cx="10872216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600"/>
              </a:spcBef>
              <a:buNone/>
              <a:defRPr sz="13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1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부록 본문. 본문보다 작은 글씨를 씁니다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4147525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부록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69802-20B2-4EE4-B80C-9D638EC0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3017520"/>
            <a:ext cx="9144000" cy="868680"/>
          </a:xfrm>
        </p:spPr>
        <p:txBody>
          <a:bodyPr anchor="t" wrap="square" lIns="0" rIns="0" tIns="0" bIns="0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34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부록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BEB188-B19D-557C-48FF-E4EB67FF7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368" y="4041648"/>
            <a:ext cx="8229600" cy="457200"/>
          </a:xfrm>
        </p:spPr>
        <p:txBody>
          <a:bodyPr wrap="square" lIns="0" rIns="0" t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13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</a:lstStyle>
          <a:p>
            <a:pPr lvl="0" algn="l"/>
            <a:r>
              <a:t>본문에서 뺀 자료를 여기에 둡니다</a:t>
            </a:r>
          </a:p>
        </p:txBody>
      </p:sp>
      <p:sp>
        <p:nvSpPr>
          <p:cNvPr id="4" name="mark"/>
          <p:cNvSpPr/>
          <p:nvPr/>
        </p:nvSpPr>
        <p:spPr>
          <a:xfrm>
            <a:off x="658368" y="2761488"/>
            <a:ext cx="822960" cy="54864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41192074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4" Type="http://schemas.openxmlformats.org/officeDocument/2006/relationships/slideLayout" Target="../slideLayouts/slideLayout7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0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배경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logo-0"/>
          <p:cNvSpPr/>
          <p:nvPr/>
        </p:nvSpPr>
        <p:spPr>
          <a:xfrm>
            <a:off x="658368" y="6144768"/>
            <a:ext cx="68580" cy="1783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logo-1"/>
          <p:cNvSpPr/>
          <p:nvPr/>
        </p:nvSpPr>
        <p:spPr>
          <a:xfrm>
            <a:off x="757809" y="6179058"/>
            <a:ext cx="68580" cy="10972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logo-2"/>
          <p:cNvSpPr/>
          <p:nvPr/>
        </p:nvSpPr>
        <p:spPr>
          <a:xfrm>
            <a:off x="857250" y="6144768"/>
            <a:ext cx="685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ogo-ko"/>
          <p:cNvSpPr txBox="1"/>
          <p:nvPr/>
        </p:nvSpPr>
        <p:spPr>
          <a:xfrm>
            <a:off x="1066419" y="618248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b="1" spc="0" dirty="0">
                <a:solidFill>
                  <a:srgbClr val="FFFFFF"/>
                </a:solidFill>
                <a:latin typeface="Segoe UI Semibold"/>
                <a:ea typeface="맑은 고딕"/>
                <a:cs typeface="맑은 고딕"/>
              </a:rPr>
              <a:t>세움파트너스</a:t>
            </a:r>
          </a:p>
        </p:txBody>
      </p:sp>
      <p:sp>
        <p:nvSpPr>
          <p:cNvPr id="12" name="tx"/>
          <p:cNvSpPr txBox="1"/>
          <p:nvPr/>
        </p:nvSpPr>
        <p:spPr>
          <a:xfrm>
            <a:off x="8899855" y="62910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A9B6C8"/>
                </a:solidFill>
                <a:latin typeface="Segoe UI"/>
                <a:ea typeface="맑은 고딕"/>
                <a:cs typeface="맑은 고딕"/>
              </a:rPr>
              <a:t>대외비 · 제안용</a:t>
            </a:r>
          </a:p>
        </p:txBody>
      </p:sp>
      <p:sp>
        <p:nvSpPr>
          <p:cNvPr id="13" name="tx"/>
          <p:cNvSpPr txBox="1"/>
          <p:nvPr/>
        </p:nvSpPr>
        <p:spPr>
          <a:xfrm>
            <a:off x="11167567" y="629107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endParaRPr/>
          </a:p>
        </p:txBody>
      </p:sp>
      <p:sp>
        <p:nvSpPr>
          <p:cNvPr id="14" name="bg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</p:sldLayoutIdLst>
  <p:txStyles>
    <p:titleStyle>
      <a:lvl1pPr marL="0" indent="0" algn="l" defTabSz="457200" rtl="0" eaLnBrk="1" latinLnBrk="0" hangingPunct="1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1pPr>
      <a:lvl2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2pPr>
      <a:lvl3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3pPr>
      <a:lvl4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4pPr>
      <a:lvl5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5pPr>
      <a:lvl6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6pPr>
      <a:lvl7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7pPr>
      <a:lvl8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8pPr>
      <a:lvl9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9pPr>
    </p:titleStyle>
    <p:bodyStyle>
      <a:lvl1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bodyStyle>
    <p:otherStyle>
      <a:defPPr>
        <a:defRPr lang="en-US"/>
      </a:defPPr>
      <a:lvl1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배경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E16337-098A-F2EB-0168-8AD1650A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EEE01C-1E50-6605-9B41-7EE3FD116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430C5-00AC-2AD0-4B29-034CC13A8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1FC63-8E7B-490E-A346-7E79E4D4A8C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logo-0"/>
          <p:cNvSpPr/>
          <p:nvPr/>
        </p:nvSpPr>
        <p:spPr>
          <a:xfrm>
            <a:off x="658368" y="6144768"/>
            <a:ext cx="68580" cy="1783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logo-1"/>
          <p:cNvSpPr/>
          <p:nvPr/>
        </p:nvSpPr>
        <p:spPr>
          <a:xfrm>
            <a:off x="757809" y="6179058"/>
            <a:ext cx="68580" cy="10972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ogo-2"/>
          <p:cNvSpPr/>
          <p:nvPr/>
        </p:nvSpPr>
        <p:spPr>
          <a:xfrm>
            <a:off x="857250" y="6144768"/>
            <a:ext cx="68580" cy="178308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logo-ko"/>
          <p:cNvSpPr txBox="1"/>
          <p:nvPr/>
        </p:nvSpPr>
        <p:spPr>
          <a:xfrm>
            <a:off x="1066419" y="618248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b="1" spc="0" dirty="0">
                <a:solidFill>
                  <a:srgbClr val="0E2340"/>
                </a:solidFill>
                <a:latin typeface="Segoe UI Semibold"/>
                <a:ea typeface="맑은 고딕"/>
                <a:cs typeface="맑은 고딕"/>
              </a:rPr>
              <a:t>세움파트너스</a:t>
            </a:r>
          </a:p>
        </p:txBody>
      </p:sp>
      <p:sp>
        <p:nvSpPr>
          <p:cNvPr id="12" name="tx"/>
          <p:cNvSpPr txBox="1"/>
          <p:nvPr/>
        </p:nvSpPr>
        <p:spPr>
          <a:xfrm>
            <a:off x="8899855" y="62910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대외비 · 제안용</a:t>
            </a:r>
          </a:p>
        </p:txBody>
      </p:sp>
      <p:sp>
        <p:nvSpPr>
          <p:cNvPr id="13" name="tx"/>
          <p:cNvSpPr txBox="1"/>
          <p:nvPr/>
        </p:nvSpPr>
        <p:spPr>
          <a:xfrm>
            <a:off x="11167567" y="629107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27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9" r:id="rId4"/>
    <p:sldLayoutId id="2147483661" r:id="rId6"/>
    <p:sldLayoutId id="2147483662" r:id="rId7"/>
    <p:sldLayoutId id="2147483663" r:id="rId8"/>
  </p:sldLayoutIdLst>
  <p:txStyles>
    <p:titleStyle>
      <a:lvl1pPr algn="l" defTabSz="914400" rtl="0" eaLnBrk="1" latinLnBrk="1" hangingPunct="1" marL="0" indent="0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1pPr>
      <a:lvl2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2pPr>
      <a:lvl3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3pPr>
      <a:lvl4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4pPr>
      <a:lvl5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5pPr>
      <a:lvl6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6pPr>
      <a:lvl7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7pPr>
      <a:lvl8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8pPr>
      <a:lvl9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9pPr>
    </p:titleStyle>
    <p:bodyStyle>
      <a:lvl1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bodyStyle>
    <p:otherStyle>
      <a:defPPr>
        <a:defRPr lang="ko-KR"/>
      </a:defPPr>
      <a:lvl1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배경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0D4C45-268A-2963-D345-BAC19DA9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A8A656-D427-A03E-0186-84311765A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90CF12-4457-2F4B-C294-1797F8A0B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560E6-D45B-4C27-B03B-E6CDF8B4CE4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logo-0"/>
          <p:cNvSpPr/>
          <p:nvPr/>
        </p:nvSpPr>
        <p:spPr>
          <a:xfrm>
            <a:off x="658368" y="6144768"/>
            <a:ext cx="68580" cy="1783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logo-1"/>
          <p:cNvSpPr/>
          <p:nvPr/>
        </p:nvSpPr>
        <p:spPr>
          <a:xfrm>
            <a:off x="757809" y="6179058"/>
            <a:ext cx="68580" cy="10972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ogo-2"/>
          <p:cNvSpPr/>
          <p:nvPr/>
        </p:nvSpPr>
        <p:spPr>
          <a:xfrm>
            <a:off x="857250" y="6144768"/>
            <a:ext cx="68580" cy="178308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logo-ko"/>
          <p:cNvSpPr txBox="1"/>
          <p:nvPr/>
        </p:nvSpPr>
        <p:spPr>
          <a:xfrm>
            <a:off x="1066419" y="618248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b="1" spc="0" dirty="0">
                <a:solidFill>
                  <a:srgbClr val="0E2340"/>
                </a:solidFill>
                <a:latin typeface="Segoe UI Semibold"/>
                <a:ea typeface="맑은 고딕"/>
                <a:cs typeface="맑은 고딕"/>
              </a:rPr>
              <a:t>세움파트너스</a:t>
            </a:r>
          </a:p>
        </p:txBody>
      </p:sp>
      <p:sp>
        <p:nvSpPr>
          <p:cNvPr id="12" name="tx"/>
          <p:cNvSpPr txBox="1"/>
          <p:nvPr/>
        </p:nvSpPr>
        <p:spPr>
          <a:xfrm>
            <a:off x="8899855" y="62910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대외비 · 제안용</a:t>
            </a:r>
          </a:p>
        </p:txBody>
      </p:sp>
      <p:sp>
        <p:nvSpPr>
          <p:cNvPr id="13" name="tx"/>
          <p:cNvSpPr txBox="1"/>
          <p:nvPr/>
        </p:nvSpPr>
        <p:spPr>
          <a:xfrm>
            <a:off x="11167567" y="629107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19610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  <p:sldLayoutId id="2147483671" r:id="rId4"/>
    <p:sldLayoutId id="2147483673" r:id="rId6"/>
  </p:sldLayoutIdLst>
  <p:txStyles>
    <p:titleStyle>
      <a:lvl1pPr algn="l" defTabSz="914400" rtl="0" eaLnBrk="1" latinLnBrk="1" hangingPunct="1" marL="0" indent="0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1pPr>
      <a:lvl2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2pPr>
      <a:lvl3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3pPr>
      <a:lvl4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4pPr>
      <a:lvl5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5pPr>
      <a:lvl6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6pPr>
      <a:lvl7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7pPr>
      <a:lvl8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8pPr>
      <a:lvl9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9pPr>
    </p:titleStyle>
    <p:bodyStyle>
      <a:lvl1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bodyStyle>
    <p:otherStyle>
      <a:defPPr>
        <a:defRPr lang="ko-KR"/>
      </a:defPPr>
      <a:lvl1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배경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EF07DD-AF55-5205-5AE2-1AE17D7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67EFD2-B306-A6EC-8B06-8A9D504D6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9C2735-16EA-0BED-9ADD-089170415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D41A8-D90D-4456-8219-0620AE68A80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logo-0"/>
          <p:cNvSpPr/>
          <p:nvPr/>
        </p:nvSpPr>
        <p:spPr>
          <a:xfrm>
            <a:off x="658368" y="6144768"/>
            <a:ext cx="68580" cy="1783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logo-1"/>
          <p:cNvSpPr/>
          <p:nvPr/>
        </p:nvSpPr>
        <p:spPr>
          <a:xfrm>
            <a:off x="757809" y="6179058"/>
            <a:ext cx="68580" cy="10972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ogo-2"/>
          <p:cNvSpPr/>
          <p:nvPr/>
        </p:nvSpPr>
        <p:spPr>
          <a:xfrm>
            <a:off x="857250" y="6144768"/>
            <a:ext cx="68580" cy="178308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logo-ko"/>
          <p:cNvSpPr txBox="1"/>
          <p:nvPr/>
        </p:nvSpPr>
        <p:spPr>
          <a:xfrm>
            <a:off x="1066419" y="618248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b="1" spc="0" dirty="0">
                <a:solidFill>
                  <a:srgbClr val="0E2340"/>
                </a:solidFill>
                <a:latin typeface="Segoe UI Semibold"/>
                <a:ea typeface="맑은 고딕"/>
                <a:cs typeface="맑은 고딕"/>
              </a:rPr>
              <a:t>세움파트너스</a:t>
            </a:r>
          </a:p>
        </p:txBody>
      </p:sp>
      <p:sp>
        <p:nvSpPr>
          <p:cNvPr id="12" name="tx"/>
          <p:cNvSpPr txBox="1"/>
          <p:nvPr/>
        </p:nvSpPr>
        <p:spPr>
          <a:xfrm>
            <a:off x="8899855" y="62910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대외비 · 제안용</a:t>
            </a:r>
          </a:p>
        </p:txBody>
      </p:sp>
      <p:sp>
        <p:nvSpPr>
          <p:cNvPr id="13" name="tx"/>
          <p:cNvSpPr txBox="1"/>
          <p:nvPr/>
        </p:nvSpPr>
        <p:spPr>
          <a:xfrm>
            <a:off x="11167567" y="629107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7145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  <p:sldLayoutId id="2147483682" r:id="rId3"/>
  </p:sldLayoutIdLst>
  <p:txStyles>
    <p:titleStyle>
      <a:lvl1pPr algn="l" defTabSz="914400" rtl="0" eaLnBrk="1" latinLnBrk="1" hangingPunct="1" marL="0" indent="0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1pPr>
      <a:lvl2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2pPr>
      <a:lvl3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3pPr>
      <a:lvl4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4pPr>
      <a:lvl5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5pPr>
      <a:lvl6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6pPr>
      <a:lvl7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7pPr>
      <a:lvl8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8pPr>
      <a:lvl9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9pPr>
    </p:titleStyle>
    <p:bodyStyle>
      <a:lvl1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bodyStyle>
    <p:otherStyle>
      <a:defPPr>
        <a:defRPr lang="ko-KR"/>
      </a:defPPr>
      <a:lvl1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「공공 AI사업 추진체계 유연화 방안 마련」 제안요약서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한국지능정보사회진흥원(NIA) · 사업예산 70,000,000원(부가세 포함) · 기간 180일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평가 구조 — 기술능력평가 90% + 입찰가격평가 10%, 기술 100점 만점의 85% 미만은 협상 대상에서 제외</a:t>
            </a:r>
          </a:p>
          <a:p>
            <a:pPr/>
            <a:r>
              <a:t>Ⅰ. 일반현황 (20점)</a:t>
            </a:r>
          </a:p>
          <a:p>
            <a:pPr/>
            <a:r>
              <a:t>Ⅱ. 전략 및 방법론 (30점)</a:t>
            </a:r>
          </a:p>
          <a:p>
            <a:pPr/>
            <a:r>
              <a:t>Ⅲ. 사업수행 (30점)</a:t>
            </a:r>
          </a:p>
          <a:p>
            <a:pPr/>
            <a:r>
              <a:t>Ⅳ. 프로젝트 관리 및 지원 (18점)</a:t>
            </a:r>
          </a:p>
          <a:p>
            <a:pPr/>
            <a:r>
              <a:t>Ⅴ. 사회적 가치 및 안전 관리 (2점)</a:t>
            </a:r>
          </a:p>
          <a:p>
            <a:pPr/>
            <a:r>
              <a:t>목차는 제안요청서 Ⅳ-3-나 기술평가 배점표의 항목 순서를 그대로 따랐습니다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Ⅰ. 일반현황 — 제안사 일반현황·조직 및 인원·수행조직 및 업무분장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배점 20점 (5 + 5 + 10)</a:t>
            </a:r>
          </a:p>
          <a:p>
            <a:pPr/>
            <a:r>
              <a:t>제안사 일반현황 (5점) — 일반현황과 주요 연혁이 본 사업 수행 내용과 이어지는지를 봅니다</a:t>
            </a:r>
          </a:p>
          <a:p>
            <a:pPr lvl="1"/>
            <a:r>
              <a:t>[제안사명] · 설립 [연도] · 주요 연혁 [기재 필요]</a:t>
            </a:r>
          </a:p>
          <a:p>
            <a:pPr/>
            <a:r>
              <a:t>제안사의 조직 및 인원 (5점) — 조직과 인원현황이 사업 수행에 적정한지를 봅니다</a:t>
            </a:r>
          </a:p>
          <a:p>
            <a:pPr lvl="1"/>
            <a:r>
              <a:t>총 인원 [명] · AI 정책·법제도 연구인력 [명]</a:t>
            </a:r>
          </a:p>
          <a:p>
            <a:pPr/>
            <a:r>
              <a:t>수행조직 및 업무분장 (10점) — 이 장에서 배점이 가장 큽니다</a:t>
            </a:r>
          </a:p>
          <a:p>
            <a:pPr lvl="1"/>
            <a:r>
              <a:t>PM 1명 전담, 유형화·재설계·법제 세 축에 책임자를 각각 배치</a:t>
            </a:r>
          </a:p>
          <a:p>
            <a:pPr lvl="1"/>
            <a:r>
              <a:t>자문 풀은 AI기술전문가·발주자·사업자·관계부처 10명 이상으로 착수 전에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Ⅱ. 전략 및 방법론 ① — 사업 이해도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배점 10점 — 제안요청 내용의 이해, 제안의 목적·범위·전제조건, 특징과 장점을 봅니다</a:t>
            </a:r>
          </a:p>
          <a:p>
            <a:pPr/>
            <a:r>
              <a:t>추진 배경</a:t>
            </a:r>
          </a:p>
          <a:p>
            <a:pPr lvl="1"/>
            <a:r>
              <a:t>AI 기술의 특성을 고려하지 않은 획일적 정보화사업 프로세스가 공공 AI 사업의 비효율을 낳고 있습니다</a:t>
            </a:r>
          </a:p>
          <a:p>
            <a:pPr/>
            <a:r>
              <a:t>원문이 짚은 세 한계점</a:t>
            </a:r>
          </a:p>
          <a:p>
            <a:pPr lvl="1"/>
            <a:r>
              <a:t>기술-사업 주기 불일치 — 기획부터 구축까지 오래 걸려 완료 시점에 기술이 노후화됩니다</a:t>
            </a:r>
          </a:p>
          <a:p>
            <a:pPr lvl="1"/>
            <a:r>
              <a:t>절차상 비효율 — 일부 기능만 도입·교체해도 전면 재구축으로 진행됩니다</a:t>
            </a:r>
          </a:p>
          <a:p>
            <a:pPr lvl="1"/>
            <a:r>
              <a:t>운영관리 미흡 — 장애 대응 중심 유지보수라 모델 성능 저하에 적시 대응이 어렵습니다</a:t>
            </a:r>
          </a:p>
          <a:p>
            <a:pPr/>
            <a:r>
              <a:t>전제조건 — 이 사업의 산출물은 시스템이 아니라 절차와 법·제도 개정안입니다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Ⅱ. 전략 및 방법론 ② — 추진전략·사업 방법론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배점 20점 (추진전략 10 + 사업 방법론 10)</a:t>
            </a:r>
          </a:p>
          <a:p>
            <a:pPr/>
            <a:r>
              <a:t>추진전략 — 일정에서 읽히는 두 가지 압박에 맞춥니다</a:t>
            </a:r>
          </a:p>
          <a:p>
            <a:pPr lvl="1"/>
            <a:r>
              <a:t>앞단 압축: 유형화와 전문가 10명 이상 의견수렴이 M 한 달에 몰려 있어 전문가 풀을 착수 전 확보</a:t>
            </a:r>
          </a:p>
          <a:p>
            <a:pPr lvl="1"/>
            <a:r>
              <a:t>뒷단 병렬: 개정안 작성(M+3~M+5)과 자문회의(M+4~M+5)를 두 트랙으로 동시 운영</a:t>
            </a:r>
          </a:p>
          <a:p>
            <a:pPr/>
            <a:r>
              <a:t>사업 방법론 — 원문이 요구한 정량 요건을 그대로 설계에 넣습니다</a:t>
            </a:r>
          </a:p>
          <a:p>
            <a:pPr lvl="1"/>
            <a:r>
              <a:t>유형 최소 5개 이상 정의, 유형별 특성과 대표사례 기술</a:t>
            </a:r>
          </a:p>
          <a:p>
            <a:pPr lvl="1"/>
            <a:r>
              <a:t>전문가 의견수렴 10명 이상</a:t>
            </a:r>
          </a:p>
          <a:p>
            <a:pPr lvl="1"/>
            <a:r>
              <a:t>최근 3년 사례를 유형별 3건 이상, 정량분석과 담당자 인터뷰 병행</a:t>
            </a:r>
          </a:p>
          <a:p>
            <a:pPr/>
            <a:r>
              <a:t>적용(활용) 경험 [기재 필요] · 산출물 제출시기는 M / M+3 / M+5 (제안)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Ⅲ. 사업수행 ① — 유형화 및 과제 선정, 추진체계 재설계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가. 유형화 및 유연화 적용 과제 선정 (10점)</a:t>
            </a:r>
          </a:p>
          <a:p>
            <a:pPr lvl="1"/>
            <a:r>
              <a:t>PoC·BMT, 신규구축, 운영서비스 AI모델 도입·교체 등 5개 이상 유형 정의</a:t>
            </a:r>
          </a:p>
          <a:p>
            <a:pPr lvl="1"/>
            <a:r>
              <a:t>복합 사업의 일관 분류 기준 — 사업목적, 예산비중, 핵심 산출물</a:t>
            </a:r>
          </a:p>
          <a:p>
            <a:pPr lvl="1"/>
            <a:r>
              <a:t>유형별 전단계 비효율·제약요인 분석과 단계별 문제점 목록</a:t>
            </a:r>
          </a:p>
          <a:p>
            <a:pPr lvl="1"/>
            <a:r>
              <a:t>전자정부법·국가계약법·소프트웨어진흥법·국가재정법으로 유연화 가능 범위와 제약 범위를 구분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나. 추진체계 재설계 (10점)</a:t>
            </a:r>
          </a:p>
          <a:p>
            <a:pPr lvl="1"/>
            <a:r>
              <a:t>AI전략위·조달청 등과 협의해 개선과제와 방향을 공동 도출</a:t>
            </a:r>
          </a:p>
          <a:p>
            <a:pPr lvl="1"/>
            <a:r>
              <a:t>해외 사례 — 미국 GSA, 영국 Guidelines for AI procurement, EU MCC-AI</a:t>
            </a:r>
          </a:p>
          <a:p>
            <a:pPr lvl="1"/>
            <a:r>
              <a:t>감리 제도와 AI-PMO로 기존 품질관리 체계와 연계</a:t>
            </a:r>
          </a:p>
          <a:p>
            <a:pPr lvl="1"/>
            <a:r>
              <a:t>기획·발주·구축·검증·운영 전주기 재설계와 현행 대비 단계별 비교표</a:t>
            </a:r>
          </a:p>
          <a:p>
            <a:pPr lvl="1"/>
            <a:r>
              <a:t>소요시간·사업기간·사업비·재작업비용·과업변경 건수로 효과를 재고 시각화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Ⅲ. 사업수행 ② — 법·제도 개선안 마련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배점 10점 — 사업수행 30점은 세 축에 10점씩 균등 배분돼 있습니다</a:t>
            </a:r>
          </a:p>
          <a:p>
            <a:pPr/>
            <a:r>
              <a:t>제도개선</a:t>
            </a:r>
          </a:p>
          <a:p>
            <a:pPr lvl="1"/>
            <a:r>
              <a:t>재설계 프로세스 적용에 필요한 법령을 전수조사합니다 (시행규칙·고시·가이드 포함)</a:t>
            </a:r>
          </a:p>
          <a:p>
            <a:pPr lvl="1"/>
            <a:r>
              <a:t>개정 대상별 개정안을 작성하고 제도개선 로드맵을 만듭니다</a:t>
            </a:r>
          </a:p>
          <a:p>
            <a:pPr lvl="1"/>
            <a:r>
              <a:t>법령 개정 없이 가이드·고시 수준에서 먼저 적용할 수 있는 사항을 따로 뽑습니다</a:t>
            </a:r>
          </a:p>
          <a:p>
            <a:pPr/>
            <a:r>
              <a:t>의견수렴</a:t>
            </a:r>
          </a:p>
          <a:p>
            <a:pPr lvl="1"/>
            <a:r>
              <a:t>조달청·AI전략위·기획예산처·재정경제부·과학기술정보통신부, 발주자·수행사·법제도 전문가 자문회의</a:t>
            </a:r>
          </a:p>
          <a:p>
            <a:pPr lvl="1"/>
            <a:r>
              <a:t>수렴 의견을 분석해 개정안과 로드맵에 반영</a:t>
            </a:r>
          </a:p>
          <a:p>
            <a:pPr/>
            <a:r>
              <a:t>로드맵 — 단기는 가이드·고시 개정, 중장기는 법률과 시행령 제·개정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Ⅳ. 프로젝트 관리 및 지원 / Ⅴ. 사회적 가치 및 안전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Ⅳ. 프로젝트 관리 및 지원 (18점)</a:t>
            </a:r>
          </a:p>
          <a:p>
            <a:pPr lvl="1"/>
            <a:r>
              <a:t>관리방법론 5점 — 사업위험·진도·산출물 형상과 문서 관리 절차</a:t>
            </a:r>
          </a:p>
          <a:p>
            <a:pPr lvl="1"/>
            <a:r>
              <a:t>관리역량 5점 — PM [성명·유사 프로젝트 관리 경력 기재 필요]</a:t>
            </a:r>
          </a:p>
          <a:p>
            <a:pPr lvl="1"/>
            <a:r>
              <a:t>일정계획 5점 — M~M+5 여섯 구간에 활동·기간·자원·핵심인력 배정</a:t>
            </a:r>
          </a:p>
          <a:p>
            <a:pPr lvl="1"/>
            <a:r>
              <a:t>보안관리방안 3점 — 보안 관리체계, 자료유출방지, 개인정보보호, 산출물 정보보호</a:t>
            </a:r>
          </a:p>
          <a:p>
            <a:pPr/>
            <a:r>
              <a:t>보고 체계 — 주간보고 상시, 중간보고 M+2, 종료보고 M+5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Ⅴ. 사회적 가치 및 안전 관리 (2점)</a:t>
            </a:r>
          </a:p>
          <a:p>
            <a:pPr lvl="1"/>
            <a:r>
              <a:t>안전관리 매뉴얼 작성과 관련자 교육계획</a:t>
            </a:r>
          </a:p>
          <a:p>
            <a:pPr lvl="1"/>
            <a:r>
              <a:t>비상상황·재난 발생 시 대응 방안</a:t>
            </a:r>
          </a:p>
          <a:p>
            <a:pPr lvl="1"/>
            <a:r>
              <a:t>사업장 구축 시 사업장과 수행인력의 안전·보건관리 방안</a:t>
            </a:r>
          </a:p>
          <a:p>
            <a:pPr/>
            <a:r>
              <a:t>보안 3점과 안전 2점은 정형 항목입니다. 표준 서식으로 5점을 확실히 확보합니다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참고 — 제안 작성 핵심 유의사항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탈락과 직결되는 요건</a:t>
            </a:r>
          </a:p>
          <a:p>
            <a:pPr lvl="1"/>
            <a:r>
              <a:t>기술능력평가 100점 만점의 85% 미만이면 협상 대상에서 제외됩니다</a:t>
            </a:r>
          </a:p>
          <a:p>
            <a:pPr lvl="1"/>
            <a:r>
              <a:t>입찰참가자격 3중 요건 — 조달청 입찰참가자격등록증, 학술연구용역(업종코드 1169) 등록, 소기업·소상공인 확인서. 공동수급업체 모두에게 적용됩니다</a:t>
            </a:r>
          </a:p>
          <a:p>
            <a:pPr lvl="1"/>
            <a:r>
              <a:t>공동이행방식만 가능하고, 공동수급체는 5개 이하·구성원별 지분 10% 이상. 입찰서 제출 이후에는 구성을 바꿀 수 없습니다</a:t>
            </a:r>
          </a:p>
          <a:p>
            <a:pPr/>
            <a:r>
              <a:t>PM 요건</a:t>
            </a:r>
          </a:p>
          <a:p>
            <a:pPr lvl="1"/>
            <a:r>
              <a:t>제안서에 PM을 반드시 명시해야 하며, 미명시하거나 평가 당일 불참하면 서면평가로 전환됩니다</a:t>
            </a:r>
          </a:p>
          <a:p>
            <a:pPr lvl="1"/>
            <a:r>
              <a:t>PM과 전담인력은 수행기간 중 변경할 수 없고, 변경 시 발주기관 사전승인이 필요합니다</a:t>
            </a:r>
          </a:p>
          <a:p>
            <a:pPr/>
            <a:r>
              <a:t>제출 형식</a:t>
            </a:r>
          </a:p>
          <a:p>
            <a:pPr lvl="1"/>
            <a:r>
              <a:t>PDF만 허용, 총 300MB 이하, 파일 4개 이하. 제안서 본문은 별지를 빼고 50페이지 이내 권고</a:t>
            </a:r>
          </a:p>
          <a:p>
            <a:pPr lvl="1"/>
            <a:r>
              <a:t>제출된 제안서는 계약조건의 일부가 됩니다. 정량 약속은 달성 가능한 수준으로만 씁니다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표지 계열">
  <a:themeElements>
    <a:clrScheme name="Office">
      <a:dk1>
        <a:srgbClr val="101828"/>
      </a:dk1>
      <a:lt1>
        <a:srgbClr val="FFFFFF"/>
      </a:lt1>
      <a:dk2>
        <a:srgbClr val="0E2340"/>
      </a:dk2>
      <a:lt2>
        <a:srgbClr val="F7F9FC"/>
      </a:lt2>
      <a:accent1>
        <a:srgbClr val="2F6BFF"/>
      </a:accent1>
      <a:accent2>
        <a:srgbClr val="0E9384"/>
      </a:accent2>
      <a:accent3>
        <a:srgbClr val="0E2340"/>
      </a:accent3>
      <a:accent4>
        <a:srgbClr val="5B6472"/>
      </a:accent4>
      <a:accent5>
        <a:srgbClr val="E3E8EF"/>
      </a:accent5>
      <a:accent6>
        <a:srgbClr val="EEF1F6"/>
      </a:accent6>
      <a:hlink>
        <a:srgbClr val="2F6BFF"/>
      </a:hlink>
      <a:folHlink>
        <a:srgbClr val="5B6472"/>
      </a:folHlink>
    </a:clrScheme>
    <a:fontScheme name="Office">
      <a:majorFont>
        <a:latin typeface="Segoe UI Semibold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본문 계열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데이터 계열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부록 계열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0</vt:i4>
      </vt:variant>
    </vt:vector>
  </HeadingPairs>
  <TitlesOfParts>
    <vt:vector size="8" baseType="lpstr">
      <vt:lpstr>맑은 고딕</vt:lpstr>
      <vt:lpstr>Arial</vt:lpstr>
      <vt:lpstr>Segoe UI</vt:lpstr>
      <vt:lpstr>Segoe UI Semibold</vt:lpstr>
      <vt:lpstr>표지 계열</vt:lpstr>
      <vt:lpstr>본문 계열</vt:lpstr>
      <vt:lpstr>데이터 계열</vt:lpstr>
      <vt:lpstr>부록 계열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Sumin Lee</cp:lastModifiedBy>
  <cp:revision>2</cp:revision>
  <dcterms:created xsi:type="dcterms:W3CDTF">2013-01-27T09:14:16Z</dcterms:created>
  <dcterms:modified xsi:type="dcterms:W3CDTF">2026-09-02T08:08:13Z</dcterms:modified>
  <cp:category/>
</cp:coreProperties>
</file>