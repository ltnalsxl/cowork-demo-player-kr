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96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0E1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138160" y="0"/>
            <a:ext cx="4059936" cy="6858000"/>
          </a:xfrm>
          <a:prstGeom prst="rect">
            <a:avLst/>
          </a:prstGeom>
          <a:solidFill>
            <a:srgbClr val="111F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86384" y="2395728"/>
            <a:ext cx="658368" cy="44450"/>
          </a:xfrm>
          <a:prstGeom prst="rect">
            <a:avLst/>
          </a:prstGeom>
          <a:solidFill>
            <a:srgbClr val="3B5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86384" y="2724912"/>
            <a:ext cx="877824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4200" b="1" spc="-4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국내 피지컬AI 시장 동향 보고</a:t>
            </a:r>
          </a:p>
          <a:p>
            <a:pPr algn="l">
              <a:lnSpc>
                <a:spcPct val="140000"/>
              </a:lnSpc>
              <a:spcBef>
                <a:spcPts val="1800"/>
              </a:spcBef>
              <a:spcAft>
                <a:spcPts val="0"/>
              </a:spcAft>
            </a:pPr>
            <a:r>
              <a:rPr sz="1600" b="0" spc="-20">
                <a:solidFill>
                  <a:srgbClr val="A9B4CE"/>
                </a:solidFill>
                <a:latin typeface="Malgun Gothic"/>
                <a:ea typeface="Malgun Gothic"/>
                <a:cs typeface="Malgun Gothic"/>
              </a:rPr>
              <a:t>2025.09 – 2026.09 · 경영진 요약</a:t>
            </a:r>
          </a:p>
        </p:txBody>
      </p:sp>
      <p:sp>
        <p:nvSpPr>
          <p:cNvPr id="6" name="Rectangle 5"/>
          <p:cNvSpPr/>
          <p:nvPr/>
        </p:nvSpPr>
        <p:spPr>
          <a:xfrm>
            <a:off x="786384" y="5669280"/>
            <a:ext cx="2011680" cy="9525"/>
          </a:xfrm>
          <a:prstGeom prst="rect">
            <a:avLst/>
          </a:prstGeom>
          <a:solidFill>
            <a:srgbClr val="2C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6384" y="5888736"/>
            <a:ext cx="8778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 spc="-20">
                <a:solidFill>
                  <a:srgbClr val="7682A0"/>
                </a:solidFill>
                <a:latin typeface="Malgun Gothic"/>
                <a:ea typeface="Malgun Gothic"/>
                <a:cs typeface="Malgun Gothic"/>
              </a:rPr>
              <a:t>우리 회사 내부 전략 검토용 · 작성: Copilot Cowork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86384" y="548640"/>
            <a:ext cx="10616184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700" b="1" spc="-30">
                <a:solidFill>
                  <a:srgbClr val="171822"/>
                </a:solidFill>
                <a:latin typeface="Malgun Gothic"/>
                <a:ea typeface="Malgun Gothic"/>
                <a:cs typeface="Malgun Gothic"/>
              </a:rPr>
              <a:t>실제 성장은 완만하나,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700" b="1" spc="-30">
                <a:solidFill>
                  <a:srgbClr val="171822"/>
                </a:solidFill>
                <a:latin typeface="Malgun Gothic"/>
                <a:ea typeface="Malgun Gothic"/>
                <a:cs typeface="Malgun Gothic"/>
              </a:rPr>
              <a:t>대기업은 이미 피지컬AI로 전략을 전환하고 있다</a:t>
            </a:r>
          </a:p>
        </p:txBody>
      </p:sp>
      <p:sp>
        <p:nvSpPr>
          <p:cNvPr id="3" name="Rectangle 2"/>
          <p:cNvSpPr/>
          <p:nvPr/>
        </p:nvSpPr>
        <p:spPr>
          <a:xfrm>
            <a:off x="786384" y="1700784"/>
            <a:ext cx="10616184" cy="9525"/>
          </a:xfrm>
          <a:prstGeom prst="rect">
            <a:avLst/>
          </a:prstGeom>
          <a:solidFill>
            <a:srgbClr val="DFE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86384" y="1979676"/>
            <a:ext cx="5106924" cy="1773936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DF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70432" y="2363724"/>
            <a:ext cx="420624" cy="38100"/>
          </a:xfrm>
          <a:prstGeom prst="rect">
            <a:avLst/>
          </a:prstGeom>
          <a:solidFill>
            <a:srgbClr val="3B5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70432" y="2564892"/>
            <a:ext cx="43388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600" b="1" spc="-20">
                <a:solidFill>
                  <a:srgbClr val="24338F"/>
                </a:solidFill>
                <a:latin typeface="Malgun Gothic"/>
                <a:ea typeface="Malgun Gothic"/>
                <a:cs typeface="Malgun Gothic"/>
              </a:rPr>
              <a:t>시장 규모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70432" y="3022091"/>
            <a:ext cx="433882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350" b="0" spc="-20">
                <a:solidFill>
                  <a:srgbClr val="171822"/>
                </a:solidFill>
                <a:latin typeface="Malgun Gothic"/>
                <a:ea typeface="Malgun Gothic"/>
                <a:cs typeface="Malgun Gothic"/>
              </a:rPr>
              <a:t>2024년 국내 로봇산업 매출 6조 1,695억원, 전년 대비 3.2% 성장(제조업 중심, 여전히 파편화)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5644" y="1979676"/>
            <a:ext cx="5106924" cy="1773936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DF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679692" y="2363724"/>
            <a:ext cx="420624" cy="38100"/>
          </a:xfrm>
          <a:prstGeom prst="rect">
            <a:avLst/>
          </a:prstGeom>
          <a:solidFill>
            <a:srgbClr val="3B5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9692" y="2564892"/>
            <a:ext cx="43388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600" b="1" spc="-20">
                <a:solidFill>
                  <a:srgbClr val="24338F"/>
                </a:solidFill>
                <a:latin typeface="Malgun Gothic"/>
                <a:ea typeface="Malgun Gothic"/>
                <a:cs typeface="Malgun Gothic"/>
              </a:rPr>
              <a:t>경쟁 구도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9692" y="3022091"/>
            <a:ext cx="433882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350" b="0" spc="-20">
                <a:solidFill>
                  <a:srgbClr val="171822"/>
                </a:solidFill>
                <a:latin typeface="Malgun Gothic"/>
                <a:ea typeface="Malgun Gothic"/>
                <a:cs typeface="Malgun Gothic"/>
              </a:rPr>
              <a:t>현대차·삼성·LG·두산·레인보우로보틱스가 CEO 직속 조직 신설, 수천억~조원 단위 투자로 재편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6384" y="4064508"/>
            <a:ext cx="5106924" cy="1773936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DF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70432" y="4448556"/>
            <a:ext cx="420624" cy="38100"/>
          </a:xfrm>
          <a:prstGeom prst="rect">
            <a:avLst/>
          </a:prstGeom>
          <a:solidFill>
            <a:srgbClr val="3B5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70432" y="4649724"/>
            <a:ext cx="43388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600" b="1" spc="-20">
                <a:solidFill>
                  <a:srgbClr val="24338F"/>
                </a:solidFill>
                <a:latin typeface="Malgun Gothic"/>
                <a:ea typeface="Malgun Gothic"/>
                <a:cs typeface="Malgun Gothic"/>
              </a:rPr>
              <a:t>정책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70432" y="5106924"/>
            <a:ext cx="433882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350" b="0" spc="-20">
                <a:solidFill>
                  <a:srgbClr val="171822"/>
                </a:solidFill>
                <a:latin typeface="Malgun Gothic"/>
                <a:ea typeface="Malgun Gothic"/>
                <a:cs typeface="Malgun Gothic"/>
              </a:rPr>
              <a:t>K-휴머노이드 연합(1조원+ 투자), AI기본법 시행(2026.1) 등 정부가 적극 지원 국면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95644" y="4064508"/>
            <a:ext cx="5106924" cy="1773936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DF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679692" y="4448556"/>
            <a:ext cx="420624" cy="38100"/>
          </a:xfrm>
          <a:prstGeom prst="rect">
            <a:avLst/>
          </a:prstGeom>
          <a:solidFill>
            <a:srgbClr val="A82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79692" y="4649724"/>
            <a:ext cx="43388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600" b="1" spc="-20">
                <a:solidFill>
                  <a:srgbClr val="A82C2C"/>
                </a:solidFill>
                <a:latin typeface="Malgun Gothic"/>
                <a:ea typeface="Malgun Gothic"/>
                <a:cs typeface="Malgun Gothic"/>
              </a:rPr>
              <a:t>사내 갭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9692" y="5106924"/>
            <a:ext cx="433882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350" b="0" spc="-20">
                <a:solidFill>
                  <a:srgbClr val="171822"/>
                </a:solidFill>
                <a:latin typeface="Malgun Gothic"/>
                <a:ea typeface="Malgun Gothic"/>
                <a:cs typeface="Malgun Gothic"/>
              </a:rPr>
              <a:t>SharePoint 전수조사 결과 피지컬AI 관련 시장분석·영업자료 전무, 인지적 공백 존재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86384" y="548640"/>
            <a:ext cx="10616184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800" b="1" spc="-30">
                <a:solidFill>
                  <a:srgbClr val="171822"/>
                </a:solidFill>
                <a:latin typeface="Malgun Gothic"/>
                <a:ea typeface="Malgun Gothic"/>
                <a:cs typeface="Malgun Gothic"/>
              </a:rPr>
              <a:t>국내 로봇산업은 3.2% 성장했다</a:t>
            </a:r>
          </a:p>
          <a:p>
            <a:pPr algn="l">
              <a:lnSpc>
                <a:spcPct val="130000"/>
              </a:lnSpc>
              <a:spcBef>
                <a:spcPts val="900"/>
              </a:spcBef>
              <a:spcAft>
                <a:spcPts val="0"/>
              </a:spcAft>
            </a:pPr>
            <a:r>
              <a:rPr sz="1500" b="0" spc="-20">
                <a:solidFill>
                  <a:srgbClr val="5B5B66"/>
                </a:solidFill>
                <a:latin typeface="Malgun Gothic"/>
                <a:ea typeface="Malgun Gothic"/>
                <a:cs typeface="Malgun Gothic"/>
              </a:rPr>
              <a:t>해외 전망치는 시장 정의에 따라 최대 9배까지 차이가 난다</a:t>
            </a:r>
          </a:p>
        </p:txBody>
      </p:sp>
      <p:sp>
        <p:nvSpPr>
          <p:cNvPr id="3" name="Rectangle 2"/>
          <p:cNvSpPr/>
          <p:nvPr/>
        </p:nvSpPr>
        <p:spPr>
          <a:xfrm>
            <a:off x="786384" y="1700784"/>
            <a:ext cx="10616184" cy="9525"/>
          </a:xfrm>
          <a:prstGeom prst="rect">
            <a:avLst/>
          </a:prstGeom>
          <a:solidFill>
            <a:srgbClr val="DFE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86384" y="2308860"/>
            <a:ext cx="3355848" cy="32004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DF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839212"/>
            <a:ext cx="2898648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600" b="1" spc="-50">
                <a:solidFill>
                  <a:srgbClr val="171822"/>
                </a:solidFill>
                <a:latin typeface="Malgun Gothic"/>
                <a:ea typeface="Malgun Gothic"/>
                <a:cs typeface="Malgun Gothic"/>
              </a:rPr>
              <a:t>₩6.17조</a:t>
            </a:r>
          </a:p>
        </p:txBody>
      </p:sp>
      <p:sp>
        <p:nvSpPr>
          <p:cNvPr id="6" name="Rectangle 5"/>
          <p:cNvSpPr/>
          <p:nvPr/>
        </p:nvSpPr>
        <p:spPr>
          <a:xfrm>
            <a:off x="1097280" y="4229100"/>
            <a:ext cx="1188720" cy="31750"/>
          </a:xfrm>
          <a:prstGeom prst="rect">
            <a:avLst/>
          </a:prstGeom>
          <a:solidFill>
            <a:srgbClr val="3B5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4521708"/>
            <a:ext cx="27889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400" b="1" spc="-20">
                <a:solidFill>
                  <a:srgbClr val="171822"/>
                </a:solidFill>
                <a:latin typeface="Malgun Gothic"/>
                <a:ea typeface="Malgun Gothic"/>
                <a:cs typeface="Malgun Gothic"/>
              </a:rPr>
              <a:t>2024년 국내 로봇산업 매출</a:t>
            </a:r>
          </a:p>
          <a:p>
            <a:pPr algn="l">
              <a:lnSpc>
                <a:spcPct val="140000"/>
              </a:lnSpc>
              <a:spcBef>
                <a:spcPts val="700"/>
              </a:spcBef>
              <a:spcAft>
                <a:spcPts val="0"/>
              </a:spcAft>
            </a:pPr>
            <a:r>
              <a:rPr sz="1200" b="0" spc="-20">
                <a:solidFill>
                  <a:srgbClr val="5B5B66"/>
                </a:solidFill>
                <a:latin typeface="Malgun Gothic"/>
                <a:ea typeface="Malgun Gothic"/>
                <a:cs typeface="Malgun Gothic"/>
              </a:rPr>
              <a:t>전년 대비 +3.2%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16552" y="2308860"/>
            <a:ext cx="3355848" cy="3200400"/>
          </a:xfrm>
          <a:prstGeom prst="roundRect">
            <a:avLst>
              <a:gd name="adj" fmla="val 3500"/>
            </a:avLst>
          </a:prstGeom>
          <a:solidFill>
            <a:srgbClr val="F4F6FD"/>
          </a:solidFill>
          <a:ln w="9525">
            <a:solidFill>
              <a:srgbClr val="DF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27448" y="2839212"/>
            <a:ext cx="2898648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600" b="1" spc="-50">
                <a:solidFill>
                  <a:srgbClr val="24338F"/>
                </a:solidFill>
                <a:latin typeface="Segoe UI"/>
                <a:ea typeface="Malgun Gothic"/>
                <a:cs typeface="Segoe UI"/>
              </a:rPr>
              <a:t>47.9%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27448" y="4229100"/>
            <a:ext cx="1188720" cy="31750"/>
          </a:xfrm>
          <a:prstGeom prst="rect">
            <a:avLst/>
          </a:prstGeom>
          <a:solidFill>
            <a:srgbClr val="3B5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27448" y="4521708"/>
            <a:ext cx="27889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400" b="1" spc="-20">
                <a:solidFill>
                  <a:srgbClr val="171822"/>
                </a:solidFill>
                <a:latin typeface="Malgun Gothic"/>
                <a:ea typeface="Malgun Gothic"/>
                <a:cs typeface="Malgun Gothic"/>
              </a:rPr>
              <a:t>SK 피지컬AI 시장 연평균 성장률</a:t>
            </a:r>
          </a:p>
          <a:p>
            <a:pPr algn="l">
              <a:lnSpc>
                <a:spcPct val="140000"/>
              </a:lnSpc>
              <a:spcBef>
                <a:spcPts val="700"/>
              </a:spcBef>
              <a:spcAft>
                <a:spcPts val="0"/>
              </a:spcAft>
            </a:pPr>
            <a:r>
              <a:rPr sz="1200" b="0" spc="-20">
                <a:solidFill>
                  <a:srgbClr val="5B5B66"/>
                </a:solidFill>
                <a:latin typeface="Malgun Gothic"/>
                <a:ea typeface="Malgun Gothic"/>
                <a:cs typeface="Malgun Gothic"/>
              </a:rPr>
              <a:t>MarketsandMarkets, 2026→2031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19" y="2308860"/>
            <a:ext cx="3355848" cy="32004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DF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57615" y="2839212"/>
            <a:ext cx="2898648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600" b="1" spc="-50">
                <a:solidFill>
                  <a:srgbClr val="171822"/>
                </a:solidFill>
                <a:latin typeface="Malgun Gothic"/>
                <a:ea typeface="Malgun Gothic"/>
                <a:cs typeface="Malgun Gothic"/>
              </a:rPr>
              <a:t>9배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357615" y="4229100"/>
            <a:ext cx="1188720" cy="31750"/>
          </a:xfrm>
          <a:prstGeom prst="rect">
            <a:avLst/>
          </a:prstGeom>
          <a:solidFill>
            <a:srgbClr val="3B5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57615" y="4521708"/>
            <a:ext cx="27889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400" b="1" spc="-20">
                <a:solidFill>
                  <a:srgbClr val="171822"/>
                </a:solidFill>
                <a:latin typeface="Malgun Gothic"/>
                <a:ea typeface="Malgun Gothic"/>
                <a:cs typeface="Malgun Gothic"/>
              </a:rPr>
              <a:t>한국 휴머노이드 시장 추정치 격차</a:t>
            </a:r>
          </a:p>
          <a:p>
            <a:pPr algn="l">
              <a:lnSpc>
                <a:spcPct val="140000"/>
              </a:lnSpc>
              <a:spcBef>
                <a:spcPts val="700"/>
              </a:spcBef>
              <a:spcAft>
                <a:spcPts val="0"/>
              </a:spcAft>
            </a:pPr>
            <a:r>
              <a:rPr sz="1200" b="0" spc="-20">
                <a:solidFill>
                  <a:srgbClr val="5B5B66"/>
                </a:solidFill>
                <a:latin typeface="Malgun Gothic"/>
                <a:ea typeface="Malgun Gothic"/>
                <a:cs typeface="Malgun Gothic"/>
              </a:rPr>
              <a:t>2026년, MnM vs GVR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6384" y="6272784"/>
            <a:ext cx="106161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50" b="0" spc="-20">
                <a:solidFill>
                  <a:srgbClr val="8C8C99"/>
                </a:solidFill>
                <a:latin typeface="Malgun Gothic"/>
                <a:ea typeface="Malgun Gothic"/>
                <a:cs typeface="Malgun Gothic"/>
              </a:rPr>
              <a:t>Source: KIRIA 로봇산업실태조사(2025-12-29); MarketsandMarkets, Grand View Research(2026)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86384" y="548640"/>
            <a:ext cx="10616184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800" b="1" spc="-30">
                <a:solidFill>
                  <a:srgbClr val="171822"/>
                </a:solidFill>
                <a:latin typeface="Malgun Gothic"/>
                <a:ea typeface="Malgun Gothic"/>
                <a:cs typeface="Malgun Gothic"/>
              </a:rPr>
              <a:t>5대 경쟁사가 전 영역을 장악하고 있다</a:t>
            </a:r>
          </a:p>
          <a:p>
            <a:pPr algn="l">
              <a:lnSpc>
                <a:spcPct val="130000"/>
              </a:lnSpc>
              <a:spcBef>
                <a:spcPts val="900"/>
              </a:spcBef>
              <a:spcAft>
                <a:spcPts val="0"/>
              </a:spcAft>
            </a:pPr>
            <a:r>
              <a:rPr sz="1500" b="0" spc="-20">
                <a:solidFill>
                  <a:srgbClr val="5B5B66"/>
                </a:solidFill>
                <a:latin typeface="Malgun Gothic"/>
                <a:ea typeface="Malgun Gothic"/>
                <a:cs typeface="Malgun Gothic"/>
              </a:rPr>
              <a:t>하드웨어 대기업부터 소프트웨어 플랫폼까지</a:t>
            </a:r>
          </a:p>
        </p:txBody>
      </p:sp>
      <p:sp>
        <p:nvSpPr>
          <p:cNvPr id="3" name="Rectangle 2"/>
          <p:cNvSpPr/>
          <p:nvPr/>
        </p:nvSpPr>
        <p:spPr>
          <a:xfrm>
            <a:off x="786384" y="1700784"/>
            <a:ext cx="10616184" cy="9525"/>
          </a:xfrm>
          <a:prstGeom prst="rect">
            <a:avLst/>
          </a:prstGeom>
          <a:solidFill>
            <a:srgbClr val="DFE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86384" y="1888236"/>
          <a:ext cx="10616184" cy="404164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880360"/>
                <a:gridCol w="4626864"/>
                <a:gridCol w="3108960"/>
              </a:tblGrid>
              <a:tr h="566928">
                <a:tc>
                  <a:txBody>
                    <a:bodyPr wrap="square"/>
                    <a:lstStyle/>
                    <a:p>
                      <a:pPr algn="l">
                        <a:lnSpc>
                          <a:spcPct val="128000"/>
                        </a:lnSpc>
                        <a:spcAft>
                          <a:spcPts val="0"/>
                        </a:spcAft>
                      </a:pPr>
                      <a:r>
                        <a:rPr sz="1300" b="1" spc="-2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기업</a:t>
                      </a:r>
                    </a:p>
                  </a:txBody>
                  <a:tcPr marL="182880" marR="182880" marT="91440" marB="91440" anchor="ctr">
                    <a:solidFill>
                      <a:srgbClr val="0E1B3A"/>
                    </a:solidFill>
                    <a:lnB w="6350" cap="flat">
                      <a:solidFill>
                        <a:srgbClr val="0E1B3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8000"/>
                        </a:lnSpc>
                        <a:spcAft>
                          <a:spcPts val="0"/>
                        </a:spcAft>
                      </a:pPr>
                      <a:r>
                        <a:rPr sz="1300" b="1" spc="-2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핵심 포지셔닝</a:t>
                      </a:r>
                    </a:p>
                  </a:txBody>
                  <a:tcPr marL="182880" marR="182880" marT="91440" marB="91440" anchor="ctr">
                    <a:solidFill>
                      <a:srgbClr val="0E1B3A"/>
                    </a:solidFill>
                    <a:lnB w="6350" cap="flat">
                      <a:solidFill>
                        <a:srgbClr val="0E1B3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8000"/>
                        </a:lnSpc>
                        <a:spcAft>
                          <a:spcPts val="0"/>
                        </a:spcAft>
                      </a:pPr>
                      <a:r>
                        <a:rPr sz="1300" b="1" spc="-2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가격·비즈니스 모델</a:t>
                      </a:r>
                    </a:p>
                  </a:txBody>
                  <a:tcPr marL="182880" marR="182880" marT="91440" marB="91440" anchor="ctr">
                    <a:solidFill>
                      <a:srgbClr val="0E1B3A"/>
                    </a:solidFill>
                    <a:lnB w="6350" cap="flat">
                      <a:solidFill>
                        <a:srgbClr val="0E1B3A"/>
                      </a:solidFill>
                    </a:lnB>
                  </a:tcPr>
                </a:tc>
              </a:tr>
              <a:tr h="694944">
                <a:tc>
                  <a:txBody>
                    <a:bodyPr wrap="square"/>
                    <a:lstStyle/>
                    <a:p>
                      <a:pPr algn="l">
                        <a:lnSpc>
                          <a:spcPct val="128000"/>
                        </a:lnSpc>
                        <a:spcAft>
                          <a:spcPts val="0"/>
                        </a:spcAft>
                      </a:pPr>
                      <a:r>
                        <a:rPr sz="1300" b="1" spc="-20">
                          <a:solidFill>
                            <a:srgbClr val="1718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현대차</a:t>
                      </a:r>
                    </a:p>
                    <a:p>
                      <a:pPr algn="l">
                        <a:lnSpc>
                          <a:spcPct val="128000"/>
                        </a:lnSpc>
                        <a:spcAft>
                          <a:spcPts val="0"/>
                        </a:spcAft>
                      </a:pPr>
                      <a:r>
                        <a:rPr sz="1300" b="1" spc="-20">
                          <a:solidFill>
                            <a:srgbClr val="1718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(보스턴다이내믹스)</a:t>
                      </a:r>
                    </a:p>
                  </a:txBody>
                  <a:tcPr marL="182880" marR="182880" marT="91440" marB="91440" anchor="ctr">
                    <a:solidFill>
                      <a:srgbClr val="FFFFFF"/>
                    </a:solidFill>
                    <a:lnB w="6350" cap="flat">
                      <a:solidFill>
                        <a:srgbClr val="DFE3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8000"/>
                        </a:lnSpc>
                        <a:spcAft>
                          <a:spcPts val="0"/>
                        </a:spcAft>
                      </a:pPr>
                      <a:r>
                        <a:rPr sz="1250" b="0" spc="-20">
                          <a:solidFill>
                            <a:srgbClr val="1718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휴머노이드 생산 선도, 2028년 연 3만대 양산 목표</a:t>
                      </a:r>
                    </a:p>
                  </a:txBody>
                  <a:tcPr marL="182880" marR="182880" marT="91440" marB="91440" anchor="ctr">
                    <a:solidFill>
                      <a:srgbClr val="FFFFFF"/>
                    </a:solidFill>
                    <a:lnB w="6350" cap="flat">
                      <a:solidFill>
                        <a:srgbClr val="DFE3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8000"/>
                        </a:lnSpc>
                        <a:spcAft>
                          <a:spcPts val="0"/>
                        </a:spcAft>
                      </a:pPr>
                      <a:r>
                        <a:rPr sz="1250" b="0" spc="-20">
                          <a:solidFill>
                            <a:srgbClr val="1718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사내 우선 배치, 가격 비공개</a:t>
                      </a:r>
                    </a:p>
                  </a:txBody>
                  <a:tcPr marL="182880" marR="182880" marT="91440" marB="91440" anchor="ctr">
                    <a:solidFill>
                      <a:srgbClr val="FFFFFF"/>
                    </a:solidFill>
                    <a:lnB w="6350" cap="flat">
                      <a:solidFill>
                        <a:srgbClr val="DFE3EE"/>
                      </a:solidFill>
                    </a:lnB>
                  </a:tcPr>
                </a:tc>
              </a:tr>
              <a:tr h="694944">
                <a:tc>
                  <a:txBody>
                    <a:bodyPr wrap="square"/>
                    <a:lstStyle/>
                    <a:p>
                      <a:pPr algn="l">
                        <a:lnSpc>
                          <a:spcPct val="128000"/>
                        </a:lnSpc>
                        <a:spcAft>
                          <a:spcPts val="0"/>
                        </a:spcAft>
                      </a:pPr>
                      <a:r>
                        <a:rPr sz="1300" b="1" spc="-20">
                          <a:solidFill>
                            <a:srgbClr val="1718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삼성전자</a:t>
                      </a:r>
                    </a:p>
                    <a:p>
                      <a:pPr algn="l">
                        <a:lnSpc>
                          <a:spcPct val="128000"/>
                        </a:lnSpc>
                        <a:spcAft>
                          <a:spcPts val="0"/>
                        </a:spcAft>
                      </a:pPr>
                      <a:r>
                        <a:rPr sz="1300" b="1" spc="-20">
                          <a:solidFill>
                            <a:srgbClr val="1718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(+레인보우로보틱스)</a:t>
                      </a:r>
                    </a:p>
                  </a:txBody>
                  <a:tcPr marL="182880" marR="182880" marT="91440" marB="91440" anchor="ctr">
                    <a:solidFill>
                      <a:srgbClr val="F4F6FD"/>
                    </a:solidFill>
                    <a:lnB w="6350" cap="flat">
                      <a:solidFill>
                        <a:srgbClr val="DFE3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8000"/>
                        </a:lnSpc>
                        <a:spcAft>
                          <a:spcPts val="0"/>
                        </a:spcAft>
                      </a:pPr>
                      <a:r>
                        <a:rPr sz="1250" b="0" spc="-20">
                          <a:solidFill>
                            <a:srgbClr val="1718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반도체·자본 기반 패스트팔로워, 제조에서 B2B, B2C로 확장</a:t>
                      </a:r>
                    </a:p>
                  </a:txBody>
                  <a:tcPr marL="182880" marR="182880" marT="91440" marB="91440" anchor="ctr">
                    <a:solidFill>
                      <a:srgbClr val="F4F6FD"/>
                    </a:solidFill>
                    <a:lnB w="6350" cap="flat">
                      <a:solidFill>
                        <a:srgbClr val="DFE3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8000"/>
                        </a:lnSpc>
                        <a:spcAft>
                          <a:spcPts val="0"/>
                        </a:spcAft>
                      </a:pPr>
                      <a:r>
                        <a:rPr sz="1250" b="0" spc="-20">
                          <a:solidFill>
                            <a:srgbClr val="1718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볼리 렌탈·구독 모델</a:t>
                      </a:r>
                    </a:p>
                  </a:txBody>
                  <a:tcPr marL="182880" marR="182880" marT="91440" marB="91440" anchor="ctr">
                    <a:solidFill>
                      <a:srgbClr val="F4F6FD"/>
                    </a:solidFill>
                    <a:lnB w="6350" cap="flat">
                      <a:solidFill>
                        <a:srgbClr val="DFE3EE"/>
                      </a:solidFill>
                    </a:lnB>
                  </a:tcPr>
                </a:tc>
              </a:tr>
              <a:tr h="694944">
                <a:tc>
                  <a:txBody>
                    <a:bodyPr wrap="square"/>
                    <a:lstStyle/>
                    <a:p>
                      <a:pPr algn="l">
                        <a:lnSpc>
                          <a:spcPct val="128000"/>
                        </a:lnSpc>
                        <a:spcAft>
                          <a:spcPts val="0"/>
                        </a:spcAft>
                      </a:pPr>
                      <a:r>
                        <a:rPr sz="1300" b="1" spc="-20">
                          <a:solidFill>
                            <a:srgbClr val="1718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LG전자</a:t>
                      </a:r>
                    </a:p>
                    <a:p>
                      <a:pPr algn="l">
                        <a:lnSpc>
                          <a:spcPct val="128000"/>
                        </a:lnSpc>
                        <a:spcAft>
                          <a:spcPts val="0"/>
                        </a:spcAft>
                      </a:pPr>
                      <a:r>
                        <a:rPr sz="1300" b="1" spc="-20">
                          <a:solidFill>
                            <a:srgbClr val="1718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(+베어로보틱스)</a:t>
                      </a:r>
                    </a:p>
                  </a:txBody>
                  <a:tcPr marL="182880" marR="182880" marT="91440" marB="91440" anchor="ctr">
                    <a:solidFill>
                      <a:srgbClr val="FFFFFF"/>
                    </a:solidFill>
                    <a:lnB w="6350" cap="flat">
                      <a:solidFill>
                        <a:srgbClr val="DFE3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8000"/>
                        </a:lnSpc>
                        <a:spcAft>
                          <a:spcPts val="0"/>
                        </a:spcAft>
                      </a:pPr>
                      <a:r>
                        <a:rPr sz="1250" b="0" spc="-20">
                          <a:solidFill>
                            <a:srgbClr val="1718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국내 상업용 서비스로봇 1위(Servi)</a:t>
                      </a:r>
                    </a:p>
                  </a:txBody>
                  <a:tcPr marL="182880" marR="182880" marT="91440" marB="91440" anchor="ctr">
                    <a:solidFill>
                      <a:srgbClr val="FFFFFF"/>
                    </a:solidFill>
                    <a:lnB w="6350" cap="flat">
                      <a:solidFill>
                        <a:srgbClr val="DFE3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8000"/>
                        </a:lnSpc>
                        <a:spcAft>
                          <a:spcPts val="0"/>
                        </a:spcAft>
                      </a:pPr>
                      <a:r>
                        <a:rPr sz="1250" b="0" spc="-20">
                          <a:solidFill>
                            <a:srgbClr val="1718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구독형 RaaS 요금제</a:t>
                      </a:r>
                    </a:p>
                  </a:txBody>
                  <a:tcPr marL="182880" marR="182880" marT="91440" marB="91440" anchor="ctr">
                    <a:solidFill>
                      <a:srgbClr val="FFFFFF"/>
                    </a:solidFill>
                    <a:lnB w="6350" cap="flat">
                      <a:solidFill>
                        <a:srgbClr val="DFE3EE"/>
                      </a:solidFill>
                    </a:lnB>
                  </a:tcPr>
                </a:tc>
              </a:tr>
              <a:tr h="694944">
                <a:tc>
                  <a:txBody>
                    <a:bodyPr wrap="square"/>
                    <a:lstStyle/>
                    <a:p>
                      <a:pPr algn="l">
                        <a:lnSpc>
                          <a:spcPct val="128000"/>
                        </a:lnSpc>
                        <a:spcAft>
                          <a:spcPts val="0"/>
                        </a:spcAft>
                      </a:pPr>
                      <a:r>
                        <a:rPr sz="1300" b="1" spc="-20">
                          <a:solidFill>
                            <a:srgbClr val="1718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두산로보틱스</a:t>
                      </a:r>
                    </a:p>
                  </a:txBody>
                  <a:tcPr marL="182880" marR="182880" marT="91440" marB="91440" anchor="ctr">
                    <a:solidFill>
                      <a:srgbClr val="F4F6FD"/>
                    </a:solidFill>
                    <a:lnB w="6350" cap="flat">
                      <a:solidFill>
                        <a:srgbClr val="DFE3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8000"/>
                        </a:lnSpc>
                        <a:spcAft>
                          <a:spcPts val="0"/>
                        </a:spcAft>
                      </a:pPr>
                      <a:r>
                        <a:rPr sz="1250" b="0" spc="-20">
                          <a:solidFill>
                            <a:srgbClr val="1718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국내 협동로봇(코봇) 1위, 수출 중심</a:t>
                      </a:r>
                    </a:p>
                  </a:txBody>
                  <a:tcPr marL="182880" marR="182880" marT="91440" marB="91440" anchor="ctr">
                    <a:solidFill>
                      <a:srgbClr val="F4F6FD"/>
                    </a:solidFill>
                    <a:lnB w="6350" cap="flat">
                      <a:solidFill>
                        <a:srgbClr val="DFE3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8000"/>
                        </a:lnSpc>
                        <a:spcAft>
                          <a:spcPts val="0"/>
                        </a:spcAft>
                      </a:pPr>
                      <a:r>
                        <a:rPr sz="1250" b="0" spc="-20">
                          <a:solidFill>
                            <a:srgbClr val="1718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B2B 견적 기반, 일부 RaaS</a:t>
                      </a:r>
                    </a:p>
                  </a:txBody>
                  <a:tcPr marL="182880" marR="182880" marT="91440" marB="91440" anchor="ctr">
                    <a:solidFill>
                      <a:srgbClr val="F4F6FD"/>
                    </a:solidFill>
                    <a:lnB w="6350" cap="flat">
                      <a:solidFill>
                        <a:srgbClr val="DFE3EE"/>
                      </a:solidFill>
                    </a:lnB>
                  </a:tcPr>
                </a:tc>
              </a:tr>
              <a:tr h="694944">
                <a:tc>
                  <a:txBody>
                    <a:bodyPr wrap="square"/>
                    <a:lstStyle/>
                    <a:p>
                      <a:pPr algn="l">
                        <a:lnSpc>
                          <a:spcPct val="128000"/>
                        </a:lnSpc>
                        <a:spcAft>
                          <a:spcPts val="0"/>
                        </a:spcAft>
                      </a:pPr>
                      <a:r>
                        <a:rPr sz="1300" b="1" spc="-20">
                          <a:solidFill>
                            <a:srgbClr val="1718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레인보우로보틱스</a:t>
                      </a:r>
                    </a:p>
                  </a:txBody>
                  <a:tcPr marL="182880" marR="182880" marT="91440" marB="91440" anchor="ctr">
                    <a:solidFill>
                      <a:srgbClr val="FFFFFF"/>
                    </a:solidFill>
                    <a:lnB w="6350" cap="flat">
                      <a:solidFill>
                        <a:srgbClr val="DFE3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8000"/>
                        </a:lnSpc>
                        <a:spcAft>
                          <a:spcPts val="0"/>
                        </a:spcAft>
                      </a:pPr>
                      <a:r>
                        <a:rPr sz="1250" b="0" spc="-20">
                          <a:solidFill>
                            <a:srgbClr val="1718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국내 유일 휴머노이드 전문기업(삼성 계열)</a:t>
                      </a:r>
                    </a:p>
                  </a:txBody>
                  <a:tcPr marL="182880" marR="182880" marT="91440" marB="91440" anchor="ctr">
                    <a:solidFill>
                      <a:srgbClr val="FFFFFF"/>
                    </a:solidFill>
                    <a:lnB w="6350" cap="flat">
                      <a:solidFill>
                        <a:srgbClr val="DFE3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8000"/>
                        </a:lnSpc>
                        <a:spcAft>
                          <a:spcPts val="0"/>
                        </a:spcAft>
                      </a:pPr>
                      <a:r>
                        <a:rPr sz="1250" b="0" spc="-20">
                          <a:solidFill>
                            <a:srgbClr val="1718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상용화 2027~2030년 목표</a:t>
                      </a:r>
                    </a:p>
                  </a:txBody>
                  <a:tcPr marL="182880" marR="182880" marT="91440" marB="91440" anchor="ctr">
                    <a:solidFill>
                      <a:srgbClr val="FFFFFF"/>
                    </a:solidFill>
                    <a:lnB w="6350" cap="flat">
                      <a:solidFill>
                        <a:srgbClr val="DFE3EE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86384" y="548640"/>
            <a:ext cx="10616184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700" b="1" spc="-30">
                <a:solidFill>
                  <a:srgbClr val="171822"/>
                </a:solidFill>
                <a:latin typeface="Malgun Gothic"/>
                <a:ea typeface="Malgun Gothic"/>
                <a:cs typeface="Malgun Gothic"/>
              </a:rPr>
              <a:t>현대차는 휴머노이드 양산을,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700" b="1" spc="-30">
                <a:solidFill>
                  <a:srgbClr val="171822"/>
                </a:solidFill>
                <a:latin typeface="Malgun Gothic"/>
                <a:ea typeface="Malgun Gothic"/>
                <a:cs typeface="Malgun Gothic"/>
              </a:rPr>
              <a:t>삼성은 반도체·자본 시너지를 무기로 삼는다</a:t>
            </a:r>
          </a:p>
        </p:txBody>
      </p:sp>
      <p:sp>
        <p:nvSpPr>
          <p:cNvPr id="3" name="Rectangle 2"/>
          <p:cNvSpPr/>
          <p:nvPr/>
        </p:nvSpPr>
        <p:spPr>
          <a:xfrm>
            <a:off x="786384" y="1700784"/>
            <a:ext cx="10616184" cy="9525"/>
          </a:xfrm>
          <a:prstGeom prst="rect">
            <a:avLst/>
          </a:prstGeom>
          <a:solidFill>
            <a:srgbClr val="DFE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86384" y="2528315"/>
            <a:ext cx="5079492" cy="2761488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DF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97356" y="2539288"/>
            <a:ext cx="5057546" cy="749808"/>
          </a:xfrm>
          <a:prstGeom prst="rect">
            <a:avLst/>
          </a:prstGeom>
          <a:solidFill>
            <a:srgbClr val="F4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97356" y="2539288"/>
            <a:ext cx="38100" cy="749808"/>
          </a:xfrm>
          <a:prstGeom prst="rect">
            <a:avLst/>
          </a:prstGeom>
          <a:solidFill>
            <a:srgbClr val="3B5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33856" y="2583179"/>
            <a:ext cx="4512564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600" b="1" spc="-20">
                <a:solidFill>
                  <a:srgbClr val="24338F"/>
                </a:solidFill>
                <a:latin typeface="Malgun Gothic"/>
                <a:ea typeface="Malgun Gothic"/>
                <a:cs typeface="Malgun Gothic"/>
              </a:rPr>
              <a:t>현대차그룹 · 보스턴다이내믹스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" y="3570731"/>
            <a:ext cx="4421124" cy="14813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133350" indent="-133350">
              <a:lnSpc>
                <a:spcPct val="142000"/>
              </a:lnSpc>
              <a:spcAft>
                <a:spcPts val="0"/>
              </a:spcAft>
              <a:buFont typeface="Malgun Gothic"/>
              <a:buChar char="·"/>
            </a:pPr>
            <a:r>
              <a:rPr sz="1400" b="0" spc="-20">
                <a:solidFill>
                  <a:srgbClr val="171822"/>
                </a:solidFill>
                <a:latin typeface="Malgun Gothic"/>
                <a:ea typeface="Malgun Gothic"/>
                <a:cs typeface="Malgun Gothic"/>
              </a:rPr>
              <a:t>2028년부터 Atlas 연 3만대 생산</a:t>
            </a:r>
          </a:p>
          <a:p>
            <a:pPr algn="l" marL="133350" indent="-133350">
              <a:lnSpc>
                <a:spcPct val="142000"/>
              </a:lnSpc>
              <a:spcBef>
                <a:spcPts val="1400"/>
              </a:spcBef>
              <a:spcAft>
                <a:spcPts val="0"/>
              </a:spcAft>
              <a:buFont typeface="Malgun Gothic"/>
              <a:buChar char="·"/>
            </a:pPr>
            <a:r>
              <a:rPr sz="1400" b="0" spc="-20">
                <a:solidFill>
                  <a:srgbClr val="171822"/>
                </a:solidFill>
                <a:latin typeface="Malgun Gothic"/>
                <a:ea typeface="Malgun Gothic"/>
                <a:cs typeface="Malgun Gothic"/>
              </a:rPr>
              <a:t>조지아 Metaplant에서 Atlas PoC 이미 가동 중</a:t>
            </a:r>
          </a:p>
          <a:p>
            <a:pPr algn="l" marL="133350" indent="-133350">
              <a:lnSpc>
                <a:spcPct val="142000"/>
              </a:lnSpc>
              <a:spcBef>
                <a:spcPts val="1400"/>
              </a:spcBef>
              <a:spcAft>
                <a:spcPts val="0"/>
              </a:spcAft>
              <a:buFont typeface="Malgun Gothic"/>
              <a:buChar char="·"/>
            </a:pPr>
            <a:r>
              <a:rPr sz="1400" b="0" spc="-20">
                <a:solidFill>
                  <a:srgbClr val="171822"/>
                </a:solidFill>
                <a:latin typeface="Malgun Gothic"/>
                <a:ea typeface="Malgun Gothic"/>
                <a:cs typeface="Malgun Gothic"/>
              </a:rPr>
              <a:t>소프트뱅크 잔여지분 인수, 나스닥 IPO 유력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23076" y="2528315"/>
            <a:ext cx="5079492" cy="2761488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DF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34048" y="2539288"/>
            <a:ext cx="5057546" cy="749808"/>
          </a:xfrm>
          <a:prstGeom prst="rect">
            <a:avLst/>
          </a:prstGeom>
          <a:solidFill>
            <a:srgbClr val="F4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34048" y="2539288"/>
            <a:ext cx="38100" cy="749808"/>
          </a:xfrm>
          <a:prstGeom prst="rect">
            <a:avLst/>
          </a:prstGeom>
          <a:solidFill>
            <a:srgbClr val="3B5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70548" y="2583179"/>
            <a:ext cx="4512564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600" b="1" spc="-20">
                <a:solidFill>
                  <a:srgbClr val="24338F"/>
                </a:solidFill>
                <a:latin typeface="Malgun Gothic"/>
                <a:ea typeface="Malgun Gothic"/>
                <a:cs typeface="Malgun Gothic"/>
              </a:rPr>
              <a:t>삼성전자 · 레인보우로보틱스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0548" y="3570731"/>
            <a:ext cx="4421124" cy="14813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133350" indent="-133350">
              <a:lnSpc>
                <a:spcPct val="142000"/>
              </a:lnSpc>
              <a:spcAft>
                <a:spcPts val="0"/>
              </a:spcAft>
              <a:buFont typeface="Malgun Gothic"/>
              <a:buChar char="·"/>
            </a:pPr>
            <a:r>
              <a:rPr sz="1400" b="0" spc="-20">
                <a:solidFill>
                  <a:srgbClr val="171822"/>
                </a:solidFill>
                <a:latin typeface="Malgun Gothic"/>
                <a:ea typeface="Malgun Gothic"/>
                <a:cs typeface="Malgun Gothic"/>
              </a:rPr>
              <a:t>RX사업추진실 신설(2026.7), CEO 직속</a:t>
            </a:r>
          </a:p>
          <a:p>
            <a:pPr algn="l" marL="133350" indent="-133350">
              <a:lnSpc>
                <a:spcPct val="142000"/>
              </a:lnSpc>
              <a:spcBef>
                <a:spcPts val="1400"/>
              </a:spcBef>
              <a:spcAft>
                <a:spcPts val="0"/>
              </a:spcAft>
              <a:buFont typeface="Malgun Gothic"/>
              <a:buChar char="·"/>
            </a:pPr>
            <a:r>
              <a:rPr sz="1400" b="0" spc="-20">
                <a:solidFill>
                  <a:srgbClr val="171822"/>
                </a:solidFill>
                <a:latin typeface="Malgun Gothic"/>
                <a:ea typeface="Malgun Gothic"/>
                <a:cs typeface="Malgun Gothic"/>
              </a:rPr>
              <a:t>제조용 휴머노이드에서 B2B, B2C로 확장 전략</a:t>
            </a:r>
          </a:p>
          <a:p>
            <a:pPr algn="l" marL="133350" indent="-133350">
              <a:lnSpc>
                <a:spcPct val="142000"/>
              </a:lnSpc>
              <a:spcBef>
                <a:spcPts val="1400"/>
              </a:spcBef>
              <a:spcAft>
                <a:spcPts val="0"/>
              </a:spcAft>
              <a:buFont typeface="Malgun Gothic"/>
              <a:buChar char="·"/>
            </a:pPr>
            <a:r>
              <a:rPr sz="1400" b="0" spc="-20">
                <a:solidFill>
                  <a:srgbClr val="171822"/>
                </a:solidFill>
                <a:latin typeface="Malgun Gothic"/>
                <a:ea typeface="Malgun Gothic"/>
                <a:cs typeface="Malgun Gothic"/>
              </a:rPr>
              <a:t>레인보우 지분 35%, AI반도체·SmartThings 시너지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86384" y="548640"/>
            <a:ext cx="10616184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800" b="1" spc="-30">
                <a:solidFill>
                  <a:srgbClr val="171822"/>
                </a:solidFill>
                <a:latin typeface="Malgun Gothic"/>
                <a:ea typeface="Malgun Gothic"/>
                <a:cs typeface="Malgun Gothic"/>
              </a:rPr>
              <a:t>LG는 서비스로봇, 두산은 협동로봇 선두</a:t>
            </a:r>
          </a:p>
          <a:p>
            <a:pPr algn="l">
              <a:lnSpc>
                <a:spcPct val="130000"/>
              </a:lnSpc>
              <a:spcBef>
                <a:spcPts val="900"/>
              </a:spcBef>
              <a:spcAft>
                <a:spcPts val="0"/>
              </a:spcAft>
            </a:pPr>
            <a:r>
              <a:rPr sz="1500" b="0" spc="-20">
                <a:solidFill>
                  <a:srgbClr val="5B5B66"/>
                </a:solidFill>
                <a:latin typeface="Malgun Gothic"/>
                <a:ea typeface="Malgun Gothic"/>
                <a:cs typeface="Malgun Gothic"/>
              </a:rPr>
              <a:t>네이버는 하드웨어가 아닌 로봇 OS를 노린다</a:t>
            </a:r>
          </a:p>
        </p:txBody>
      </p:sp>
      <p:sp>
        <p:nvSpPr>
          <p:cNvPr id="3" name="Rectangle 2"/>
          <p:cNvSpPr/>
          <p:nvPr/>
        </p:nvSpPr>
        <p:spPr>
          <a:xfrm>
            <a:off x="786384" y="1700784"/>
            <a:ext cx="10616184" cy="9525"/>
          </a:xfrm>
          <a:prstGeom prst="rect">
            <a:avLst/>
          </a:prstGeom>
          <a:solidFill>
            <a:srgbClr val="DFE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86384" y="2318004"/>
            <a:ext cx="3294887" cy="3182112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DF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97356" y="2328976"/>
            <a:ext cx="3272942" cy="749808"/>
          </a:xfrm>
          <a:prstGeom prst="rect">
            <a:avLst/>
          </a:prstGeom>
          <a:solidFill>
            <a:srgbClr val="F4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97356" y="2328976"/>
            <a:ext cx="38100" cy="749808"/>
          </a:xfrm>
          <a:prstGeom prst="rect">
            <a:avLst/>
          </a:prstGeom>
          <a:solidFill>
            <a:srgbClr val="3B5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33856" y="2372868"/>
            <a:ext cx="2727959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550" b="1" spc="-20">
                <a:solidFill>
                  <a:srgbClr val="24338F"/>
                </a:solidFill>
                <a:latin typeface="Malgun Gothic"/>
                <a:ea typeface="Malgun Gothic"/>
                <a:cs typeface="Malgun Gothic"/>
              </a:rPr>
              <a:t>LG전자 · 베어로보틱스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" y="3360420"/>
            <a:ext cx="2636519" cy="19019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133350" indent="-133350">
              <a:lnSpc>
                <a:spcPct val="142000"/>
              </a:lnSpc>
              <a:spcAft>
                <a:spcPts val="0"/>
              </a:spcAft>
              <a:buFont typeface="Malgun Gothic"/>
              <a:buChar char="·"/>
            </a:pPr>
            <a:r>
              <a:rPr sz="1300" b="0" spc="-20">
                <a:solidFill>
                  <a:srgbClr val="171822"/>
                </a:solidFill>
                <a:latin typeface="Malgun Gothic"/>
                <a:ea typeface="Malgun Gothic"/>
                <a:cs typeface="Malgun Gothic"/>
              </a:rPr>
              <a:t>국내 상업용 서비스로봇 1위(Servi)</a:t>
            </a:r>
          </a:p>
          <a:p>
            <a:pPr algn="l" marL="133350" indent="-133350">
              <a:lnSpc>
                <a:spcPct val="142000"/>
              </a:lnSpc>
              <a:spcBef>
                <a:spcPts val="1300"/>
              </a:spcBef>
              <a:spcAft>
                <a:spcPts val="0"/>
              </a:spcAft>
              <a:buFont typeface="Malgun Gothic"/>
              <a:buChar char="·"/>
            </a:pPr>
            <a:r>
              <a:rPr sz="1300" b="0" spc="-20">
                <a:solidFill>
                  <a:srgbClr val="171822"/>
                </a:solidFill>
                <a:latin typeface="Malgun Gothic"/>
                <a:ea typeface="Malgun Gothic"/>
                <a:cs typeface="Malgun Gothic"/>
              </a:rPr>
              <a:t>베어로보틱스 지분 51% 인수, CLOi 통합</a:t>
            </a:r>
          </a:p>
          <a:p>
            <a:pPr algn="l" marL="133350" indent="-133350">
              <a:lnSpc>
                <a:spcPct val="142000"/>
              </a:lnSpc>
              <a:spcBef>
                <a:spcPts val="1300"/>
              </a:spcBef>
              <a:spcAft>
                <a:spcPts val="0"/>
              </a:spcAft>
              <a:buFont typeface="Malgun Gothic"/>
              <a:buChar char="·"/>
            </a:pPr>
            <a:r>
              <a:rPr sz="1300" b="0" spc="-20">
                <a:solidFill>
                  <a:srgbClr val="171822"/>
                </a:solidFill>
                <a:latin typeface="Malgun Gothic"/>
                <a:ea typeface="Malgun Gothic"/>
                <a:cs typeface="Malgun Gothic"/>
              </a:rPr>
              <a:t>구독형 RaaS 요금제 제공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47032" y="2318004"/>
            <a:ext cx="3294887" cy="3182112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DF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58004" y="2328976"/>
            <a:ext cx="3272942" cy="749808"/>
          </a:xfrm>
          <a:prstGeom prst="rect">
            <a:avLst/>
          </a:prstGeom>
          <a:solidFill>
            <a:srgbClr val="F4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58004" y="2328976"/>
            <a:ext cx="38100" cy="749808"/>
          </a:xfrm>
          <a:prstGeom prst="rect">
            <a:avLst/>
          </a:prstGeom>
          <a:solidFill>
            <a:srgbClr val="3B5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94504" y="2372868"/>
            <a:ext cx="2727959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550" b="1" spc="-20">
                <a:solidFill>
                  <a:srgbClr val="24338F"/>
                </a:solidFill>
                <a:latin typeface="Malgun Gothic"/>
                <a:ea typeface="Malgun Gothic"/>
                <a:cs typeface="Malgun Gothic"/>
              </a:rPr>
              <a:t>두산로보틱스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94504" y="3360420"/>
            <a:ext cx="2636519" cy="19019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133350" indent="-133350">
              <a:lnSpc>
                <a:spcPct val="142000"/>
              </a:lnSpc>
              <a:spcAft>
                <a:spcPts val="0"/>
              </a:spcAft>
              <a:buFont typeface="Malgun Gothic"/>
              <a:buChar char="·"/>
            </a:pPr>
            <a:r>
              <a:rPr sz="1300" b="0" spc="-20">
                <a:solidFill>
                  <a:srgbClr val="171822"/>
                </a:solidFill>
                <a:latin typeface="Malgun Gothic"/>
                <a:ea typeface="Malgun Gothic"/>
                <a:cs typeface="Malgun Gothic"/>
              </a:rPr>
              <a:t>국내 협동로봇(코봇) 1위</a:t>
            </a:r>
          </a:p>
          <a:p>
            <a:pPr algn="l" marL="133350" indent="-133350">
              <a:lnSpc>
                <a:spcPct val="142000"/>
              </a:lnSpc>
              <a:spcBef>
                <a:spcPts val="1300"/>
              </a:spcBef>
              <a:spcAft>
                <a:spcPts val="0"/>
              </a:spcAft>
              <a:buFont typeface="Malgun Gothic"/>
              <a:buChar char="·"/>
            </a:pPr>
            <a:r>
              <a:rPr sz="1300" b="0" spc="-20">
                <a:solidFill>
                  <a:srgbClr val="171822"/>
                </a:solidFill>
                <a:latin typeface="Malgun Gothic"/>
                <a:ea typeface="Malgun Gothic"/>
                <a:cs typeface="Malgun Gothic"/>
              </a:rPr>
              <a:t>북미·유럽 수출 중심, ONExia 인수</a:t>
            </a:r>
          </a:p>
          <a:p>
            <a:pPr algn="l" marL="133350" indent="-133350">
              <a:lnSpc>
                <a:spcPct val="142000"/>
              </a:lnSpc>
              <a:spcBef>
                <a:spcPts val="1300"/>
              </a:spcBef>
              <a:spcAft>
                <a:spcPts val="0"/>
              </a:spcAft>
              <a:buFont typeface="Malgun Gothic"/>
              <a:buChar char="·"/>
            </a:pPr>
            <a:r>
              <a:rPr sz="1300" b="0" spc="-20">
                <a:solidFill>
                  <a:srgbClr val="171822"/>
                </a:solidFill>
                <a:latin typeface="Malgun Gothic"/>
                <a:ea typeface="Malgun Gothic"/>
                <a:cs typeface="Malgun Gothic"/>
              </a:rPr>
              <a:t>2025년 매출 -29.6%, 적자 지속 중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07679" y="2318004"/>
            <a:ext cx="3294887" cy="3182112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DF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18652" y="2328976"/>
            <a:ext cx="3272942" cy="749808"/>
          </a:xfrm>
          <a:prstGeom prst="rect">
            <a:avLst/>
          </a:prstGeom>
          <a:solidFill>
            <a:srgbClr val="F4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18652" y="2328976"/>
            <a:ext cx="38100" cy="749808"/>
          </a:xfrm>
          <a:prstGeom prst="rect">
            <a:avLst/>
          </a:prstGeom>
          <a:solidFill>
            <a:srgbClr val="3B5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55152" y="2372868"/>
            <a:ext cx="2727959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550" b="1" spc="-20">
                <a:solidFill>
                  <a:srgbClr val="24338F"/>
                </a:solidFill>
                <a:latin typeface="Malgun Gothic"/>
                <a:ea typeface="Malgun Gothic"/>
                <a:cs typeface="Malgun Gothic"/>
              </a:rPr>
              <a:t>네이버랩스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5152" y="3360420"/>
            <a:ext cx="2636519" cy="19019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133350" indent="-133350">
              <a:lnSpc>
                <a:spcPct val="142000"/>
              </a:lnSpc>
              <a:spcAft>
                <a:spcPts val="0"/>
              </a:spcAft>
              <a:buFont typeface="Malgun Gothic"/>
              <a:buChar char="·"/>
            </a:pPr>
            <a:r>
              <a:rPr sz="1300" b="0" spc="-20">
                <a:solidFill>
                  <a:srgbClr val="171822"/>
                </a:solidFill>
                <a:latin typeface="Malgun Gothic"/>
                <a:ea typeface="Malgun Gothic"/>
                <a:cs typeface="Malgun Gothic"/>
              </a:rPr>
              <a:t>하드웨어 아닌 소프트웨어·OS 지향</a:t>
            </a:r>
          </a:p>
          <a:p>
            <a:pPr algn="l" marL="133350" indent="-133350">
              <a:lnSpc>
                <a:spcPct val="142000"/>
              </a:lnSpc>
              <a:spcBef>
                <a:spcPts val="1300"/>
              </a:spcBef>
              <a:spcAft>
                <a:spcPts val="0"/>
              </a:spcAft>
              <a:buFont typeface="Malgun Gothic"/>
              <a:buChar char="·"/>
            </a:pPr>
            <a:r>
              <a:rPr sz="1300" b="0" spc="-20">
                <a:solidFill>
                  <a:srgbClr val="171822"/>
                </a:solidFill>
                <a:latin typeface="Malgun Gothic"/>
                <a:ea typeface="Malgun Gothic"/>
                <a:cs typeface="Malgun Gothic"/>
              </a:rPr>
              <a:t>ARC+ARCBRAIN Flow 로봇 플랫폼</a:t>
            </a:r>
          </a:p>
          <a:p>
            <a:pPr algn="l" marL="133350" indent="-133350">
              <a:lnSpc>
                <a:spcPct val="142000"/>
              </a:lnSpc>
              <a:spcBef>
                <a:spcPts val="1300"/>
              </a:spcBef>
              <a:spcAft>
                <a:spcPts val="0"/>
              </a:spcAft>
              <a:buFont typeface="Malgun Gothic"/>
              <a:buChar char="·"/>
            </a:pPr>
            <a:r>
              <a:rPr sz="1300" b="0" spc="-20">
                <a:solidFill>
                  <a:srgbClr val="171822"/>
                </a:solidFill>
                <a:latin typeface="Malgun Gothic"/>
                <a:ea typeface="Malgun Gothic"/>
                <a:cs typeface="Malgun Gothic"/>
              </a:rPr>
              <a:t>"로봇계의 안드로이드" 전략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86384" y="548640"/>
            <a:ext cx="10616184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800" b="1" spc="-30">
                <a:solidFill>
                  <a:srgbClr val="171822"/>
                </a:solidFill>
                <a:latin typeface="Malgun Gothic"/>
                <a:ea typeface="Malgun Gothic"/>
                <a:cs typeface="Malgun Gothic"/>
              </a:rPr>
              <a:t>정부는 12개월간 정책을 촘촘히 쌓았다</a:t>
            </a:r>
          </a:p>
          <a:p>
            <a:pPr algn="l">
              <a:lnSpc>
                <a:spcPct val="130000"/>
              </a:lnSpc>
              <a:spcBef>
                <a:spcPts val="900"/>
              </a:spcBef>
              <a:spcAft>
                <a:spcPts val="0"/>
              </a:spcAft>
            </a:pPr>
            <a:r>
              <a:rPr sz="1500" b="0" spc="-20">
                <a:solidFill>
                  <a:srgbClr val="5B5B66"/>
                </a:solidFill>
                <a:latin typeface="Malgun Gothic"/>
                <a:ea typeface="Malgun Gothic"/>
                <a:cs typeface="Malgun Gothic"/>
              </a:rPr>
              <a:t>K-휴머노이드 연합부터 AI기본법까지</a:t>
            </a:r>
          </a:p>
        </p:txBody>
      </p:sp>
      <p:sp>
        <p:nvSpPr>
          <p:cNvPr id="3" name="Rectangle 2"/>
          <p:cNvSpPr/>
          <p:nvPr/>
        </p:nvSpPr>
        <p:spPr>
          <a:xfrm>
            <a:off x="786384" y="1700784"/>
            <a:ext cx="10616184" cy="9525"/>
          </a:xfrm>
          <a:prstGeom prst="rect">
            <a:avLst/>
          </a:prstGeom>
          <a:solidFill>
            <a:srgbClr val="DFE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60704" y="3127248"/>
            <a:ext cx="10067544" cy="19050"/>
          </a:xfrm>
          <a:prstGeom prst="rect">
            <a:avLst/>
          </a:prstGeom>
          <a:solidFill>
            <a:srgbClr val="DFE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42415" y="2340864"/>
            <a:ext cx="2516886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700" b="1" spc="-30">
                <a:solidFill>
                  <a:srgbClr val="24338F"/>
                </a:solidFill>
                <a:latin typeface="Segoe UI"/>
                <a:ea typeface="Malgun Gothic"/>
                <a:cs typeface="Segoe UI"/>
              </a:rPr>
              <a:t>2025.04</a:t>
            </a:r>
          </a:p>
        </p:txBody>
      </p:sp>
      <p:sp>
        <p:nvSpPr>
          <p:cNvPr id="6" name="Oval 5"/>
          <p:cNvSpPr/>
          <p:nvPr/>
        </p:nvSpPr>
        <p:spPr>
          <a:xfrm>
            <a:off x="1097280" y="3026664"/>
            <a:ext cx="201168" cy="201168"/>
          </a:xfrm>
          <a:prstGeom prst="ellipse">
            <a:avLst/>
          </a:prstGeom>
          <a:solidFill>
            <a:srgbClr val="3B5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42415" y="3566160"/>
            <a:ext cx="2516886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400" b="1" spc="-20">
                <a:solidFill>
                  <a:srgbClr val="171822"/>
                </a:solidFill>
                <a:latin typeface="Malgun Gothic"/>
                <a:ea typeface="Malgun Gothic"/>
                <a:cs typeface="Malgun Gothic"/>
              </a:rPr>
              <a:t>K-휴머노이드 연합 출범</a:t>
            </a:r>
          </a:p>
          <a:p>
            <a:pPr algn="l">
              <a:lnSpc>
                <a:spcPct val="135000"/>
              </a:lnSpc>
              <a:spcBef>
                <a:spcPts val="500"/>
              </a:spcBef>
              <a:spcAft>
                <a:spcPts val="0"/>
              </a:spcAft>
            </a:pPr>
            <a:r>
              <a:rPr sz="1300" b="0" spc="-20">
                <a:solidFill>
                  <a:srgbClr val="5B5B66"/>
                </a:solidFill>
                <a:latin typeface="Malgun Gothic"/>
                <a:ea typeface="Malgun Gothic"/>
                <a:cs typeface="Malgun Gothic"/>
              </a:rPr>
              <a:t>민관 1조원+ 투자 예고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42182" y="2340864"/>
            <a:ext cx="2516886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700" b="1" spc="-30">
                <a:solidFill>
                  <a:srgbClr val="24338F"/>
                </a:solidFill>
                <a:latin typeface="Segoe UI"/>
                <a:ea typeface="Malgun Gothic"/>
                <a:cs typeface="Segoe UI"/>
              </a:rPr>
              <a:t>2026.01</a:t>
            </a:r>
          </a:p>
        </p:txBody>
      </p:sp>
      <p:sp>
        <p:nvSpPr>
          <p:cNvPr id="9" name="Oval 8"/>
          <p:cNvSpPr/>
          <p:nvPr/>
        </p:nvSpPr>
        <p:spPr>
          <a:xfrm>
            <a:off x="3797046" y="3026664"/>
            <a:ext cx="201168" cy="201168"/>
          </a:xfrm>
          <a:prstGeom prst="ellipse">
            <a:avLst/>
          </a:prstGeom>
          <a:solidFill>
            <a:srgbClr val="3B5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42182" y="3566160"/>
            <a:ext cx="2516886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400" b="1" spc="-20">
                <a:solidFill>
                  <a:srgbClr val="171822"/>
                </a:solidFill>
                <a:latin typeface="Malgun Gothic"/>
                <a:ea typeface="Malgun Gothic"/>
                <a:cs typeface="Malgun Gothic"/>
              </a:rPr>
              <a:t>AI기본법 시행</a:t>
            </a:r>
          </a:p>
          <a:p>
            <a:pPr algn="l">
              <a:lnSpc>
                <a:spcPct val="135000"/>
              </a:lnSpc>
              <a:spcBef>
                <a:spcPts val="500"/>
              </a:spcBef>
              <a:spcAft>
                <a:spcPts val="0"/>
              </a:spcAft>
            </a:pPr>
            <a:r>
              <a:rPr sz="1300" b="0" spc="-20">
                <a:solidFill>
                  <a:srgbClr val="5B5B66"/>
                </a:solidFill>
                <a:latin typeface="Malgun Gothic"/>
                <a:ea typeface="Malgun Gothic"/>
                <a:cs typeface="Malgun Gothic"/>
              </a:rPr>
              <a:t>세계 최초 포괄적 AI법률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1948" y="2340864"/>
            <a:ext cx="2516886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700" b="1" spc="-30">
                <a:solidFill>
                  <a:srgbClr val="24338F"/>
                </a:solidFill>
                <a:latin typeface="Segoe UI"/>
                <a:ea typeface="Malgun Gothic"/>
                <a:cs typeface="Segoe UI"/>
              </a:rPr>
              <a:t>2026.03</a:t>
            </a:r>
          </a:p>
        </p:txBody>
      </p:sp>
      <p:sp>
        <p:nvSpPr>
          <p:cNvPr id="12" name="Oval 11"/>
          <p:cNvSpPr/>
          <p:nvPr/>
        </p:nvSpPr>
        <p:spPr>
          <a:xfrm>
            <a:off x="6496812" y="3026664"/>
            <a:ext cx="201168" cy="201168"/>
          </a:xfrm>
          <a:prstGeom prst="ellipse">
            <a:avLst/>
          </a:prstGeom>
          <a:solidFill>
            <a:srgbClr val="3B5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1948" y="3566160"/>
            <a:ext cx="2516886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400" b="1" spc="-20">
                <a:solidFill>
                  <a:srgbClr val="171822"/>
                </a:solidFill>
                <a:latin typeface="Malgun Gothic"/>
                <a:ea typeface="Malgun Gothic"/>
                <a:cs typeface="Malgun Gothic"/>
              </a:rPr>
              <a:t>AI로봇 M.AX 얼라이언스</a:t>
            </a:r>
          </a:p>
          <a:p>
            <a:pPr algn="l">
              <a:lnSpc>
                <a:spcPct val="135000"/>
              </a:lnSpc>
              <a:spcBef>
                <a:spcPts val="500"/>
              </a:spcBef>
              <a:spcAft>
                <a:spcPts val="0"/>
              </a:spcAft>
            </a:pPr>
            <a:r>
              <a:rPr sz="1300" b="0" spc="-20">
                <a:solidFill>
                  <a:srgbClr val="5B5B66"/>
                </a:solidFill>
                <a:latin typeface="Malgun Gothic"/>
                <a:ea typeface="Malgun Gothic"/>
                <a:cs typeface="Malgun Gothic"/>
              </a:rPr>
              <a:t>라운드테이블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1713" y="2340864"/>
            <a:ext cx="2516886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700" b="1" spc="-30">
                <a:solidFill>
                  <a:srgbClr val="24338F"/>
                </a:solidFill>
                <a:latin typeface="Segoe UI"/>
                <a:ea typeface="Malgun Gothic"/>
                <a:cs typeface="Segoe UI"/>
              </a:rPr>
              <a:t>2026.05</a:t>
            </a:r>
          </a:p>
        </p:txBody>
      </p:sp>
      <p:sp>
        <p:nvSpPr>
          <p:cNvPr id="15" name="Oval 14"/>
          <p:cNvSpPr/>
          <p:nvPr/>
        </p:nvSpPr>
        <p:spPr>
          <a:xfrm>
            <a:off x="9196578" y="3026664"/>
            <a:ext cx="201168" cy="201168"/>
          </a:xfrm>
          <a:prstGeom prst="ellipse">
            <a:avLst/>
          </a:prstGeom>
          <a:solidFill>
            <a:srgbClr val="3B5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1713" y="3566160"/>
            <a:ext cx="2516886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400" b="1" spc="-20">
                <a:solidFill>
                  <a:srgbClr val="171822"/>
                </a:solidFill>
                <a:latin typeface="Malgun Gothic"/>
                <a:ea typeface="Malgun Gothic"/>
                <a:cs typeface="Malgun Gothic"/>
              </a:rPr>
              <a:t>로봇산업기술개발사업 공고</a:t>
            </a:r>
          </a:p>
          <a:p>
            <a:pPr algn="l">
              <a:lnSpc>
                <a:spcPct val="135000"/>
              </a:lnSpc>
              <a:spcBef>
                <a:spcPts val="500"/>
              </a:spcBef>
              <a:spcAft>
                <a:spcPts val="0"/>
              </a:spcAft>
            </a:pPr>
            <a:r>
              <a:rPr sz="1300" b="0" spc="-20">
                <a:solidFill>
                  <a:srgbClr val="5B5B66"/>
                </a:solidFill>
                <a:latin typeface="Malgun Gothic"/>
                <a:ea typeface="Malgun Gothic"/>
                <a:cs typeface="Malgun Gothic"/>
              </a:rPr>
              <a:t>예산 구체화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86384" y="5138928"/>
            <a:ext cx="10616184" cy="859536"/>
          </a:xfrm>
          <a:prstGeom prst="roundRect">
            <a:avLst>
              <a:gd name="adj" fmla="val 3500"/>
            </a:avLst>
          </a:prstGeom>
          <a:solidFill>
            <a:srgbClr val="EA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07008" y="5138928"/>
            <a:ext cx="9774936" cy="8595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50" b="0" spc="-20">
                <a:solidFill>
                  <a:srgbClr val="171822"/>
                </a:solidFill>
                <a:latin typeface="Malgun Gothic"/>
                <a:ea typeface="Malgun Gothic"/>
                <a:cs typeface="Malgun Gothic"/>
              </a:rPr>
              <a:t>정부 자체 조사: 규제적 애로의 67.2%가 과잉규제가 아닌 법령·표준 부재. 현재는 규제보다 장려·지원 중심 국면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86384" y="548640"/>
            <a:ext cx="10616184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800" b="1" spc="-30">
                <a:solidFill>
                  <a:srgbClr val="171822"/>
                </a:solidFill>
                <a:latin typeface="Malgun Gothic"/>
                <a:ea typeface="Malgun Gothic"/>
                <a:cs typeface="Malgun Gothic"/>
              </a:rPr>
              <a:t>VLA 파운데이션모델, 온디바이스 반도체, RaaS가 3대 기술 축이다</a:t>
            </a:r>
          </a:p>
        </p:txBody>
      </p:sp>
      <p:sp>
        <p:nvSpPr>
          <p:cNvPr id="3" name="Rectangle 2"/>
          <p:cNvSpPr/>
          <p:nvPr/>
        </p:nvSpPr>
        <p:spPr>
          <a:xfrm>
            <a:off x="786384" y="1700784"/>
            <a:ext cx="10616184" cy="9525"/>
          </a:xfrm>
          <a:prstGeom prst="rect">
            <a:avLst/>
          </a:prstGeom>
          <a:solidFill>
            <a:srgbClr val="DFE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86384" y="2318004"/>
            <a:ext cx="3294887" cy="3182112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DF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97356" y="2328976"/>
            <a:ext cx="3272942" cy="749808"/>
          </a:xfrm>
          <a:prstGeom prst="rect">
            <a:avLst/>
          </a:prstGeom>
          <a:solidFill>
            <a:srgbClr val="F4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97356" y="2328976"/>
            <a:ext cx="38100" cy="749808"/>
          </a:xfrm>
          <a:prstGeom prst="rect">
            <a:avLst/>
          </a:prstGeom>
          <a:solidFill>
            <a:srgbClr val="3B5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33856" y="2372868"/>
            <a:ext cx="2727959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550" b="1" spc="-20">
                <a:solidFill>
                  <a:srgbClr val="24338F"/>
                </a:solidFill>
                <a:latin typeface="Malgun Gothic"/>
                <a:ea typeface="Malgun Gothic"/>
                <a:cs typeface="Malgun Gothic"/>
              </a:rPr>
              <a:t>VLA 파운데이션모델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" y="3360420"/>
            <a:ext cx="2636519" cy="19019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133350" indent="-133350">
              <a:lnSpc>
                <a:spcPct val="142000"/>
              </a:lnSpc>
              <a:spcAft>
                <a:spcPts val="0"/>
              </a:spcAft>
              <a:buFont typeface="Malgun Gothic"/>
              <a:buChar char="·"/>
            </a:pPr>
            <a:r>
              <a:rPr sz="1300" b="0" spc="-20">
                <a:solidFill>
                  <a:srgbClr val="171822"/>
                </a:solidFill>
                <a:latin typeface="Malgun Gothic"/>
                <a:ea typeface="Malgun Gothic"/>
                <a:cs typeface="Malgun Gothic"/>
              </a:rPr>
              <a:t>LLM에서 VLM, 시각-언어-행동(VLA) 모델로 진화</a:t>
            </a:r>
          </a:p>
          <a:p>
            <a:pPr algn="l" marL="133350" indent="-133350">
              <a:lnSpc>
                <a:spcPct val="142000"/>
              </a:lnSpc>
              <a:spcBef>
                <a:spcPts val="1300"/>
              </a:spcBef>
              <a:spcAft>
                <a:spcPts val="0"/>
              </a:spcAft>
              <a:buFont typeface="Malgun Gothic"/>
              <a:buChar char="·"/>
            </a:pPr>
            <a:r>
              <a:rPr sz="1300" b="0" spc="-20">
                <a:solidFill>
                  <a:srgbClr val="171822"/>
                </a:solidFill>
                <a:latin typeface="Malgun Gothic"/>
                <a:ea typeface="Malgun Gothic"/>
                <a:cs typeface="Malgun Gothic"/>
              </a:rPr>
              <a:t>제조업 특화 대형행동모델(LBM) 구축</a:t>
            </a:r>
          </a:p>
          <a:p>
            <a:pPr algn="l" marL="133350" indent="-133350">
              <a:lnSpc>
                <a:spcPct val="142000"/>
              </a:lnSpc>
              <a:spcBef>
                <a:spcPts val="1300"/>
              </a:spcBef>
              <a:spcAft>
                <a:spcPts val="0"/>
              </a:spcAft>
              <a:buFont typeface="Malgun Gothic"/>
              <a:buChar char="·"/>
            </a:pPr>
            <a:r>
              <a:rPr sz="1300" b="0" spc="-20">
                <a:solidFill>
                  <a:srgbClr val="171822"/>
                </a:solidFill>
                <a:latin typeface="Malgun Gothic"/>
                <a:ea typeface="Malgun Gothic"/>
                <a:cs typeface="Malgun Gothic"/>
              </a:rPr>
              <a:t>휴머노이드 실제 공장 라인에 배치 시작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47032" y="2318004"/>
            <a:ext cx="3294887" cy="3182112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DF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58004" y="2328976"/>
            <a:ext cx="3272942" cy="749808"/>
          </a:xfrm>
          <a:prstGeom prst="rect">
            <a:avLst/>
          </a:prstGeom>
          <a:solidFill>
            <a:srgbClr val="F4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58004" y="2328976"/>
            <a:ext cx="38100" cy="749808"/>
          </a:xfrm>
          <a:prstGeom prst="rect">
            <a:avLst/>
          </a:prstGeom>
          <a:solidFill>
            <a:srgbClr val="3B5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94504" y="2372868"/>
            <a:ext cx="2727959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550" b="1" spc="-20">
                <a:solidFill>
                  <a:srgbClr val="24338F"/>
                </a:solidFill>
                <a:latin typeface="Malgun Gothic"/>
                <a:ea typeface="Malgun Gothic"/>
                <a:cs typeface="Malgun Gothic"/>
              </a:rPr>
              <a:t>온디바이스 AI 반도체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94504" y="3360420"/>
            <a:ext cx="2636519" cy="19019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133350" indent="-133350">
              <a:lnSpc>
                <a:spcPct val="142000"/>
              </a:lnSpc>
              <a:spcAft>
                <a:spcPts val="0"/>
              </a:spcAft>
              <a:buFont typeface="Malgun Gothic"/>
              <a:buChar char="·"/>
            </a:pPr>
            <a:r>
              <a:rPr sz="1300" b="0" spc="-20">
                <a:solidFill>
                  <a:srgbClr val="171822"/>
                </a:solidFill>
                <a:latin typeface="Malgun Gothic"/>
                <a:ea typeface="Malgun Gothic"/>
                <a:cs typeface="Malgun Gothic"/>
              </a:rPr>
              <a:t>한국 반도체 강점을 차별화 요소로</a:t>
            </a:r>
          </a:p>
          <a:p>
            <a:pPr algn="l" marL="133350" indent="-133350">
              <a:lnSpc>
                <a:spcPct val="142000"/>
              </a:lnSpc>
              <a:spcBef>
                <a:spcPts val="1300"/>
              </a:spcBef>
              <a:spcAft>
                <a:spcPts val="0"/>
              </a:spcAft>
              <a:buFont typeface="Malgun Gothic"/>
              <a:buChar char="·"/>
            </a:pPr>
            <a:r>
              <a:rPr sz="1300" b="0" spc="-20">
                <a:solidFill>
                  <a:srgbClr val="171822"/>
                </a:solidFill>
                <a:latin typeface="Malgun Gothic"/>
                <a:ea typeface="Malgun Gothic"/>
                <a:cs typeface="Malgun Gothic"/>
              </a:rPr>
              <a:t>삼성·SK하이닉스 AI최적화 칩</a:t>
            </a:r>
          </a:p>
          <a:p>
            <a:pPr algn="l" marL="133350" indent="-133350">
              <a:lnSpc>
                <a:spcPct val="142000"/>
              </a:lnSpc>
              <a:spcBef>
                <a:spcPts val="1300"/>
              </a:spcBef>
              <a:spcAft>
                <a:spcPts val="0"/>
              </a:spcAft>
              <a:buFont typeface="Malgun Gothic"/>
              <a:buChar char="·"/>
            </a:pPr>
            <a:r>
              <a:rPr sz="1300" b="0" spc="-20">
                <a:solidFill>
                  <a:srgbClr val="171822"/>
                </a:solidFill>
                <a:latin typeface="Malgun Gothic"/>
                <a:ea typeface="Malgun Gothic"/>
                <a:cs typeface="Malgun Gothic"/>
              </a:rPr>
              <a:t>국내화된 온디바이스 AI 칩이 해자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07679" y="2318004"/>
            <a:ext cx="3294887" cy="3182112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DF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18652" y="2328976"/>
            <a:ext cx="3272942" cy="749808"/>
          </a:xfrm>
          <a:prstGeom prst="rect">
            <a:avLst/>
          </a:prstGeom>
          <a:solidFill>
            <a:srgbClr val="F4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18652" y="2328976"/>
            <a:ext cx="38100" cy="749808"/>
          </a:xfrm>
          <a:prstGeom prst="rect">
            <a:avLst/>
          </a:prstGeom>
          <a:solidFill>
            <a:srgbClr val="3B5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55152" y="2372868"/>
            <a:ext cx="2727959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550" b="1" spc="-20">
                <a:solidFill>
                  <a:srgbClr val="24338F"/>
                </a:solidFill>
                <a:latin typeface="Malgun Gothic"/>
                <a:ea typeface="Malgun Gothic"/>
                <a:cs typeface="Malgun Gothic"/>
              </a:rPr>
              <a:t>RaaS · 플랫폼 비즈니스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5152" y="3360420"/>
            <a:ext cx="2636519" cy="19019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133350" indent="-133350">
              <a:lnSpc>
                <a:spcPct val="142000"/>
              </a:lnSpc>
              <a:spcAft>
                <a:spcPts val="0"/>
              </a:spcAft>
              <a:buFont typeface="Malgun Gothic"/>
              <a:buChar char="·"/>
            </a:pPr>
            <a:r>
              <a:rPr sz="1300" b="0" spc="-20">
                <a:solidFill>
                  <a:srgbClr val="171822"/>
                </a:solidFill>
                <a:latin typeface="Malgun Gothic"/>
                <a:ea typeface="Malgun Gothic"/>
                <a:cs typeface="Malgun Gothic"/>
              </a:rPr>
              <a:t>LG·베어 Servi 구독형(RaaS)</a:t>
            </a:r>
          </a:p>
          <a:p>
            <a:pPr algn="l" marL="133350" indent="-133350">
              <a:lnSpc>
                <a:spcPct val="142000"/>
              </a:lnSpc>
              <a:spcBef>
                <a:spcPts val="1300"/>
              </a:spcBef>
              <a:spcAft>
                <a:spcPts val="0"/>
              </a:spcAft>
              <a:buFont typeface="Malgun Gothic"/>
              <a:buChar char="·"/>
            </a:pPr>
            <a:r>
              <a:rPr sz="1300" b="0" spc="-20">
                <a:solidFill>
                  <a:srgbClr val="171822"/>
                </a:solidFill>
                <a:latin typeface="Malgun Gothic"/>
                <a:ea typeface="Malgun Gothic"/>
                <a:cs typeface="Malgun Gothic"/>
              </a:rPr>
              <a:t>삼성 볼리 렌탈·구독 모델</a:t>
            </a:r>
          </a:p>
          <a:p>
            <a:pPr algn="l" marL="133350" indent="-133350">
              <a:lnSpc>
                <a:spcPct val="142000"/>
              </a:lnSpc>
              <a:spcBef>
                <a:spcPts val="1300"/>
              </a:spcBef>
              <a:spcAft>
                <a:spcPts val="0"/>
              </a:spcAft>
              <a:buFont typeface="Malgun Gothic"/>
              <a:buChar char="·"/>
            </a:pPr>
            <a:r>
              <a:rPr sz="1300" b="0" spc="-20">
                <a:solidFill>
                  <a:srgbClr val="171822"/>
                </a:solidFill>
                <a:latin typeface="Malgun Gothic"/>
                <a:ea typeface="Malgun Gothic"/>
                <a:cs typeface="Malgun Gothic"/>
              </a:rPr>
              <a:t>네이버 ARC 로봇 OS 플랫폼 전략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86384" y="548640"/>
            <a:ext cx="10616184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800" b="1" spc="-30">
                <a:solidFill>
                  <a:srgbClr val="171822"/>
                </a:solidFill>
                <a:latin typeface="Malgun Gothic"/>
                <a:ea typeface="Malgun Gothic"/>
                <a:cs typeface="Malgun Gothic"/>
              </a:rPr>
              <a:t>외부는 활발히 움직이지만, 사내에는 관련 문서가 하나도 없다</a:t>
            </a:r>
          </a:p>
        </p:txBody>
      </p:sp>
      <p:sp>
        <p:nvSpPr>
          <p:cNvPr id="3" name="Rectangle 2"/>
          <p:cNvSpPr/>
          <p:nvPr/>
        </p:nvSpPr>
        <p:spPr>
          <a:xfrm>
            <a:off x="786384" y="1700784"/>
            <a:ext cx="10616184" cy="9525"/>
          </a:xfrm>
          <a:prstGeom prst="rect">
            <a:avLst/>
          </a:prstGeom>
          <a:solidFill>
            <a:srgbClr val="DFE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86384" y="2409444"/>
            <a:ext cx="5079492" cy="2999232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DF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97356" y="2420416"/>
            <a:ext cx="5057546" cy="932688"/>
          </a:xfrm>
          <a:prstGeom prst="rect">
            <a:avLst/>
          </a:prstGeom>
          <a:solidFill>
            <a:srgbClr val="F4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97356" y="2420416"/>
            <a:ext cx="38100" cy="932688"/>
          </a:xfrm>
          <a:prstGeom prst="rect">
            <a:avLst/>
          </a:prstGeom>
          <a:solidFill>
            <a:srgbClr val="3B5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33856" y="2464308"/>
            <a:ext cx="4512564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600" b="1" spc="-20">
                <a:solidFill>
                  <a:srgbClr val="24338F"/>
                </a:solidFill>
                <a:latin typeface="Malgun Gothic"/>
                <a:ea typeface="Malgun Gothic"/>
                <a:cs typeface="Malgun Gothic"/>
              </a:rPr>
              <a:t>외부 시각</a:t>
            </a:r>
          </a:p>
          <a:p>
            <a:pPr algn="l">
              <a:lnSpc>
                <a:spcPct val="125000"/>
              </a:lnSpc>
              <a:spcBef>
                <a:spcPts val="400"/>
              </a:spcBef>
              <a:spcAft>
                <a:spcPts val="0"/>
              </a:spcAft>
            </a:pPr>
            <a:r>
              <a:rPr sz="1250" b="0" spc="-20">
                <a:solidFill>
                  <a:srgbClr val="5B5B66"/>
                </a:solidFill>
                <a:latin typeface="Malgun Gothic"/>
                <a:ea typeface="Malgun Gothic"/>
                <a:cs typeface="Malgun Gothic"/>
              </a:rPr>
              <a:t>가속화되는 전략적 움직임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" y="3634739"/>
            <a:ext cx="4421124" cy="15361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133350" indent="-133350">
              <a:lnSpc>
                <a:spcPct val="142000"/>
              </a:lnSpc>
              <a:spcAft>
                <a:spcPts val="0"/>
              </a:spcAft>
              <a:buFont typeface="Malgun Gothic"/>
              <a:buChar char="·"/>
            </a:pPr>
            <a:r>
              <a:rPr sz="1400" b="0" spc="-20">
                <a:solidFill>
                  <a:srgbClr val="171822"/>
                </a:solidFill>
                <a:latin typeface="Malgun Gothic"/>
                <a:ea typeface="Malgun Gothic"/>
                <a:cs typeface="Malgun Gothic"/>
              </a:rPr>
              <a:t>삼성·LG·현대차 CEO 직속 조직 일제히 신설</a:t>
            </a:r>
          </a:p>
          <a:p>
            <a:pPr algn="l" marL="133350" indent="-133350">
              <a:lnSpc>
                <a:spcPct val="142000"/>
              </a:lnSpc>
              <a:spcBef>
                <a:spcPts val="1400"/>
              </a:spcBef>
              <a:spcAft>
                <a:spcPts val="0"/>
              </a:spcAft>
              <a:buFont typeface="Malgun Gothic"/>
              <a:buChar char="·"/>
            </a:pPr>
            <a:r>
              <a:rPr sz="1400" b="0" spc="-20">
                <a:solidFill>
                  <a:srgbClr val="171822"/>
                </a:solidFill>
                <a:latin typeface="Malgun Gothic"/>
                <a:ea typeface="Malgun Gothic"/>
                <a:cs typeface="Malgun Gothic"/>
              </a:rPr>
              <a:t>수천억~조원 단위 자본 투입</a:t>
            </a:r>
          </a:p>
          <a:p>
            <a:pPr algn="l" marL="133350" indent="-133350">
              <a:lnSpc>
                <a:spcPct val="142000"/>
              </a:lnSpc>
              <a:spcBef>
                <a:spcPts val="1400"/>
              </a:spcBef>
              <a:spcAft>
                <a:spcPts val="0"/>
              </a:spcAft>
              <a:buFont typeface="Malgun Gothic"/>
              <a:buChar char="·"/>
            </a:pPr>
            <a:r>
              <a:rPr sz="1400" b="0" spc="-20">
                <a:solidFill>
                  <a:srgbClr val="171822"/>
                </a:solidFill>
                <a:latin typeface="Malgun Gothic"/>
                <a:ea typeface="Malgun Gothic"/>
                <a:cs typeface="Malgun Gothic"/>
              </a:rPr>
              <a:t>정부는 K-휴머노이드 연합으로 국가 전략화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23076" y="2409444"/>
            <a:ext cx="5079492" cy="2999232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DF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34048" y="2420416"/>
            <a:ext cx="5057546" cy="932688"/>
          </a:xfrm>
          <a:prstGeom prst="rect">
            <a:avLst/>
          </a:prstGeom>
          <a:solidFill>
            <a:srgbClr val="F4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34048" y="2420416"/>
            <a:ext cx="38100" cy="932688"/>
          </a:xfrm>
          <a:prstGeom prst="rect">
            <a:avLst/>
          </a:prstGeom>
          <a:solidFill>
            <a:srgbClr val="A82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70548" y="2464308"/>
            <a:ext cx="4512564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600" b="1" spc="-20">
                <a:solidFill>
                  <a:srgbClr val="24338F"/>
                </a:solidFill>
                <a:latin typeface="Malgun Gothic"/>
                <a:ea typeface="Malgun Gothic"/>
                <a:cs typeface="Malgun Gothic"/>
              </a:rPr>
              <a:t>사내 인식</a:t>
            </a:r>
          </a:p>
          <a:p>
            <a:pPr algn="l">
              <a:lnSpc>
                <a:spcPct val="125000"/>
              </a:lnSpc>
              <a:spcBef>
                <a:spcPts val="400"/>
              </a:spcBef>
              <a:spcAft>
                <a:spcPts val="0"/>
              </a:spcAft>
            </a:pPr>
            <a:r>
              <a:rPr sz="1250" b="0" spc="-20">
                <a:solidFill>
                  <a:srgbClr val="5B5B66"/>
                </a:solidFill>
                <a:latin typeface="Malgun Gothic"/>
                <a:ea typeface="Malgun Gothic"/>
                <a:cs typeface="Malgun Gothic"/>
              </a:rPr>
              <a:t>공식 전략 레이더에 부재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0548" y="3634739"/>
            <a:ext cx="4421124" cy="15361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133350" indent="-133350">
              <a:lnSpc>
                <a:spcPct val="142000"/>
              </a:lnSpc>
              <a:spcAft>
                <a:spcPts val="0"/>
              </a:spcAft>
              <a:buFont typeface="Malgun Gothic"/>
              <a:buChar char="·"/>
            </a:pPr>
            <a:r>
              <a:rPr sz="1400" b="0" spc="-20">
                <a:solidFill>
                  <a:srgbClr val="171822"/>
                </a:solidFill>
                <a:latin typeface="Malgun Gothic"/>
                <a:ea typeface="Malgun Gothic"/>
                <a:cs typeface="Malgun Gothic"/>
              </a:rPr>
              <a:t>SharePoint 전수조사: 관련 시장분석·영업자료 0건</a:t>
            </a:r>
          </a:p>
          <a:p>
            <a:pPr algn="l" marL="133350" indent="-133350">
              <a:lnSpc>
                <a:spcPct val="142000"/>
              </a:lnSpc>
              <a:spcBef>
                <a:spcPts val="1400"/>
              </a:spcBef>
              <a:spcAft>
                <a:spcPts val="0"/>
              </a:spcAft>
              <a:buFont typeface="Malgun Gothic"/>
              <a:buChar char="·"/>
            </a:pPr>
            <a:r>
              <a:rPr sz="1400" b="0" spc="-20">
                <a:solidFill>
                  <a:srgbClr val="171822"/>
                </a:solidFill>
                <a:latin typeface="Malgun Gothic"/>
                <a:ea typeface="Malgun Gothic"/>
                <a:cs typeface="Malgun Gothic"/>
              </a:rPr>
              <a:t>R&amp;D 투자는 섬유·웨어러블에 전액 집중</a:t>
            </a:r>
          </a:p>
          <a:p>
            <a:pPr algn="l" marL="133350" indent="-133350">
              <a:lnSpc>
                <a:spcPct val="142000"/>
              </a:lnSpc>
              <a:spcBef>
                <a:spcPts val="1400"/>
              </a:spcBef>
              <a:spcAft>
                <a:spcPts val="0"/>
              </a:spcAft>
              <a:buFont typeface="Malgun Gothic"/>
              <a:buChar char="·"/>
            </a:pPr>
            <a:r>
              <a:rPr sz="1400" b="0" spc="-20">
                <a:solidFill>
                  <a:srgbClr val="171822"/>
                </a:solidFill>
                <a:latin typeface="Malgun Gothic"/>
                <a:ea typeface="Malgun Gothic"/>
                <a:cs typeface="Malgun Gothic"/>
              </a:rPr>
              <a:t>경쟁사·공급망 자동화 전환 인지 지연 위험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0E1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86384" y="548640"/>
            <a:ext cx="10616184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800" b="1" spc="-3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제안: 외부 시각과 사내 인지의 격차를 좁히는 3가지 액션</a:t>
            </a:r>
          </a:p>
          <a:p>
            <a:pPr algn="l">
              <a:lnSpc>
                <a:spcPct val="130000"/>
              </a:lnSpc>
              <a:spcBef>
                <a:spcPts val="900"/>
              </a:spcBef>
              <a:spcAft>
                <a:spcPts val="0"/>
              </a:spcAft>
            </a:pPr>
            <a:r>
              <a:rPr sz="1500" b="0" spc="-20">
                <a:solidFill>
                  <a:srgbClr val="8C8C99"/>
                </a:solidFill>
                <a:latin typeface="Malgun Gothic"/>
                <a:ea typeface="Malgun Gothic"/>
                <a:cs typeface="Malgun Gothic"/>
              </a:rPr>
              <a:t>지금 시작할 수 있는 순서로 적었습니다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786384" y="1810512"/>
            <a:ext cx="10616184" cy="9525"/>
          </a:xfrm>
          <a:prstGeom prst="rect">
            <a:avLst/>
          </a:prstGeom>
          <a:solidFill>
            <a:srgbClr val="2C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86384" y="2628900"/>
            <a:ext cx="3294887" cy="2743200"/>
          </a:xfrm>
          <a:prstGeom prst="roundRect">
            <a:avLst>
              <a:gd name="adj" fmla="val 3500"/>
            </a:avLst>
          </a:prstGeom>
          <a:solidFill>
            <a:srgbClr val="16254A"/>
          </a:solidFill>
          <a:ln w="9525">
            <a:solidFill>
              <a:srgbClr val="2C3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70432" y="3031236"/>
            <a:ext cx="252679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600" b="1" spc="-40">
                <a:solidFill>
                  <a:srgbClr val="6F8BE8"/>
                </a:solidFill>
                <a:latin typeface="Segoe UI"/>
                <a:ea typeface="Malgun Gothic"/>
                <a:cs typeface="Segoe UI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70432" y="3598164"/>
            <a:ext cx="252679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600" b="1" spc="-2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경쟁사 모니터링에 포함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70432" y="4146804"/>
            <a:ext cx="2526792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300" b="0" spc="-20">
                <a:solidFill>
                  <a:srgbClr val="B6C2DE"/>
                </a:solidFill>
                <a:latin typeface="Malgun Gothic"/>
                <a:ea typeface="Malgun Gothic"/>
                <a:cs typeface="Malgun Gothic"/>
              </a:rPr>
              <a:t>시장정보팀이 피지컬AI·로보틱스를 정기 경쟁사 인텔리전스 모니터링 범위에 포함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47032" y="2628900"/>
            <a:ext cx="3294887" cy="2743200"/>
          </a:xfrm>
          <a:prstGeom prst="roundRect">
            <a:avLst>
              <a:gd name="adj" fmla="val 3500"/>
            </a:avLst>
          </a:prstGeom>
          <a:solidFill>
            <a:srgbClr val="16254A"/>
          </a:solidFill>
          <a:ln w="9525">
            <a:solidFill>
              <a:srgbClr val="2C3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31080" y="3031236"/>
            <a:ext cx="252679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600" b="1" spc="-40">
                <a:solidFill>
                  <a:srgbClr val="6F8BE8"/>
                </a:solidFill>
                <a:latin typeface="Segoe UI"/>
                <a:ea typeface="Malgun Gothic"/>
                <a:cs typeface="Segoe UI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31080" y="3598164"/>
            <a:ext cx="252679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600" b="1" spc="-2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자체 공정 적용 검토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31080" y="4146804"/>
            <a:ext cx="2526792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300" b="0" spc="-20">
                <a:solidFill>
                  <a:srgbClr val="B6C2DE"/>
                </a:solidFill>
                <a:latin typeface="Malgun Gothic"/>
                <a:ea typeface="Malgun Gothic"/>
                <a:cs typeface="Malgun Gothic"/>
              </a:rPr>
              <a:t>자체 제조공정 자동화에 협동로봇·AI비전 도입 타당성 검토 및 국내 공급자 파일럿 논의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07679" y="2628900"/>
            <a:ext cx="3294887" cy="2743200"/>
          </a:xfrm>
          <a:prstGeom prst="roundRect">
            <a:avLst>
              <a:gd name="adj" fmla="val 3500"/>
            </a:avLst>
          </a:prstGeom>
          <a:solidFill>
            <a:srgbClr val="16254A"/>
          </a:solidFill>
          <a:ln w="9525">
            <a:solidFill>
              <a:srgbClr val="2C3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91727" y="3031236"/>
            <a:ext cx="252679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600" b="1" spc="-40">
                <a:solidFill>
                  <a:srgbClr val="6F8BE8"/>
                </a:solidFill>
                <a:latin typeface="Segoe UI"/>
                <a:ea typeface="Malgun Gothic"/>
                <a:cs typeface="Segoe UI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91727" y="3598164"/>
            <a:ext cx="252679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600" b="1" spc="-2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분기별 업데이트 체계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91727" y="4146804"/>
            <a:ext cx="2526792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300" b="0" spc="-20">
                <a:solidFill>
                  <a:srgbClr val="B6C2DE"/>
                </a:solidFill>
                <a:latin typeface="Malgun Gothic"/>
                <a:ea typeface="Malgun Gothic"/>
                <a:cs typeface="Malgun Gothic"/>
              </a:rPr>
              <a:t>본 보고서를 출발점으로 분기별 피지컬AI 동향 업데이트 체계를 수립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6384" y="5870448"/>
            <a:ext cx="1061618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50" b="1" spc="-20">
                <a:solidFill>
                  <a:srgbClr val="9FB2E8"/>
                </a:solidFill>
                <a:latin typeface="Malgun Gothic"/>
                <a:ea typeface="Malgun Gothic"/>
                <a:cs typeface="Malgun Gothic"/>
              </a:rPr>
              <a:t>피지컬AI는 더 이상 미래의 이야기가 아니다. 지금 추적을 시작해야 한다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