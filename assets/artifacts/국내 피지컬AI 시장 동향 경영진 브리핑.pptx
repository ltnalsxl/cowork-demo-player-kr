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2024년 매출(조 원)</c:v>
                </c:pt>
              </c:strCache>
            </c:strRef>
          </c:tx>
          <c:spPr>
            <a:solidFill>
              <a:srgbClr val="1B2A41"/>
            </a:solidFill>
          </c:spPr>
          <c:cat>
            <c:strLit>
              <c:ptCount val="4"/>
              <c:pt idx="0">
                <c:v>제조업용</c:v>
              </c:pt>
              <c:pt idx="1">
                <c:v>부품·SW</c:v>
              </c:pt>
              <c:pt idx="2">
                <c:v>전문서비스용</c:v>
              </c:pt>
              <c:pt idx="3">
                <c:v>개인서비스용</c:v>
              </c:pt>
            </c:strLit>
          </c:cat>
          <c:val>
            <c:numLit>
              <c:ptCount val="4"/>
              <c:pt idx="0">
                <c:v>3.1075</c:v>
              </c:pt>
              <c:pt idx="1">
                <c:v>1.981</c:v>
              </c:pt>
              <c:pt idx="2">
                <c:v>0.6423</c:v>
              </c:pt>
              <c:pt idx="3">
                <c:v>0.4386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r"/>
    </c:legend>
    <c:plotVisOnly val="1"/>
  </c:chart>
</c:chartSpace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/>
        </p:nvSpPr>
        <p:spPr/>
        <p:txBody>
          <a:bodyPr/>
          <a:lstStyle/>
          <a:p>
            <a:r>
              <a:t>외부 공개 자료 35건과 사내 문서 2건을 교차검증한 결과입니다. 상세 근거는 동명 Word 보고서의 부록 A 출처 목록을 참조하십시오.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/>
        </p:nvSpPr>
        <p:spPr/>
        <p:txBody>
          <a:bodyPr/>
          <a:lstStyle/>
          <a:p>
            <a:r>
              <a:t>이 장만 읽어도 결론을 알 수 있도록 구성했습니다. 이후 장에서 시장, 경쟁, 규제, 기술, 사내 갭 순으로 근거를 부연합니다.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/>
        </p:nvSpPr>
        <p:spPr/>
        <p:txBody>
          <a:bodyPr/>
          <a:lstStyle/>
          <a:p>
            <a:r>
              <a:t>매출 구성: 제조업용 3조 1,075억 원(50.4%), 부품·소프트웨어 1조 9,810억 원(32.1%), 전문서비스용 6,423억 원, 개인서비스용 4,386억 원. 단위는 조 원이다.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/>
        </p:nvSpPr>
        <p:spPr/>
        <p:txBody>
          <a:bodyPr/>
          <a:lstStyle/>
          <a:p>
            <a:r>
              <a:t>집계 정의 차이에서 비롯된 것으로 보이며 어느 쪽도 정답으로 단정할 수 없다. 고객 대화에서는 단일 숫자 대신 범위와 출처를 제시한다.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/>
        </p:nvSpPr>
        <p:spPr/>
        <p:txBody>
          <a:bodyPr/>
          <a:lstStyle/>
          <a:p>
            <a:r>
              <a:t>가격 정책은 다섯 곳 모두 비공개로 확인 불가였다. 구독·단계적 도입 설계가 현실적 제안이다.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/>
        </p:nvSpPr>
        <p:spPr/>
        <p:txBody>
          <a:bodyPr/>
          <a:lstStyle/>
          <a:p>
            <a:r>
              <a:t>AI 기본법은 EU에 이어 세계 두 번째 포괄 법률이며 과태료는 최대 3,000만 원 수준이다. 계도기간이 1년 이상이라 실제 부과는 2027년 이후로 전망된다.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/>
        </p:nvSpPr>
        <p:spPr/>
        <p:txBody>
          <a:bodyPr/>
          <a:lstStyle/>
          <a:p>
            <a:r>
              <a:t>데이터 확보 경로를 먼저 쉽게 만드는 족이 향후 2–3년 경쟁 우위를 가를 가능성이 크다.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/>
        </p:nvSpPr>
        <p:spPr/>
        <p:txBody>
          <a:bodyPr/>
          <a:lstStyle/>
          <a:p>
            <a:r>
              <a:t>사내 검색에서 피지컬 AI를 주제로 한 영업팀 전용 리포트는 확인되지 않았다. 별도 사이트가 있다면 지정해 재조사할 수 있다.</a:t>
            </a:r>
          </a:p>
        </p:txBody>
      </p:sp>
    </p:spTree>
  </p:cSld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/>
        </p:nvSpPr>
        <p:spPr/>
        <p:txBody>
          <a:bodyPr/>
          <a:lstStyle/>
          <a:p>
            <a:r>
              <a:t>중국은 특허 5,688건, 미국 1,483건, 일본 1,195건이다. 이 격차는 정부가 연합 출범 자료에서 직접 인정한 내용이다.</a:t>
            </a:r>
          </a:p>
        </p:txBody>
      </p:sp>
    </p:spTree>
  </p:cSld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/>
        </p:nvSpPr>
        <p:spPr/>
        <p:txBody>
          <a:bodyPr/>
          <a:lstStyle/>
          <a:p>
            <a:r>
              <a:t>요청 사항은 분기별 갱신 오너십 지정과 영업팀 입력 채널 확보 두 가지다.</a:t>
            </a: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1"/>
          </a:solidFill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6019800"/>
            <a:ext cx="12192000" cy="45720"/>
          </a:xfrm>
          <a:prstGeom prst="rect">
            <a:avLst/>
          </a:prstGeom>
          <a:solidFill>
            <a:srgbClr val="E8632A"/>
          </a:solidFill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914400" y="2011680"/>
            <a:ext cx="10363200" cy="1600200"/>
          </a:xfrm>
          <a:prstGeom prst="rect">
            <a:avLst/>
          </a:prstGeom>
        </p:spPr>
        <p:txBody>
          <a:bodyPr/>
          <a:lstStyle/>
          <a:p>
            <a:r>
              <a:rPr b="1" sz="4000">
                <a:solidFill>
                  <a:srgbClr val="FFFFFF"/>
                </a:solidFill>
                <a:latin typeface="맑은 고딕"/>
              </a:rPr>
              <a:t>국내 피지컬 AI 시장, 정책은 달렸고 실적은 아직이다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914400" y="3703320"/>
            <a:ext cx="10363200" cy="548640"/>
          </a:xfrm>
          <a:prstGeom prst="rect">
            <a:avLst/>
          </a:prstGeom>
        </p:spPr>
        <p:txBody>
          <a:bodyPr wrap="none"/>
          <a:lstStyle/>
          <a:p>
            <a:r>
              <a:rPr sz="2000">
                <a:solidFill>
                  <a:srgbClr val="CBD5E0"/>
                </a:solidFill>
                <a:latin typeface="맑은 고딕"/>
              </a:rPr>
              <a:t>최근 12개월(2025.08–2026.08) 심층 리서치 · 경영진 요약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914400" y="5029200"/>
            <a:ext cx="10363200" cy="457200"/>
          </a:xfrm>
          <a:prstGeom prst="rect">
            <a:avLst/>
          </a:prstGeom>
        </p:spPr>
        <p:txBody>
          <a:bodyPr wrap="none"/>
          <a:lstStyle/>
          <a:p>
            <a:r>
              <a:rPr sz="1400">
                <a:solidFill>
                  <a:srgbClr val="9AA5B1"/>
                </a:solidFill>
                <a:latin typeface="맑은 고딕"/>
              </a:rPr>
              <a:t>2026년 8월 6일 · Copilot User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685800" y="548640"/>
            <a:ext cx="10820400" cy="731520"/>
          </a:xfrm>
          <a:prstGeom prst="rect">
            <a:avLst/>
          </a:prstGeom>
        </p:spPr>
        <p:txBody>
          <a:bodyPr/>
          <a:lstStyle/>
          <a:p>
            <a:r>
              <a:rPr b="1" sz="2800">
                <a:solidFill>
                  <a:srgbClr val="141C26"/>
                </a:solidFill>
                <a:latin typeface="맑은 고딕"/>
              </a:rPr>
              <a:t>정책·자본은 급가속, 국내 실적은 +3.2% — 두 시계가 벌어졌다</a:t>
            </a:r>
          </a:p>
        </p:txBody>
      </p:sp>
      <p:sp>
        <p:nvSpPr>
          <p:cNvPr id="3" name="Shape"/>
          <p:cNvSpPr/>
          <p:nvPr/>
        </p:nvSpPr>
        <p:spPr>
          <a:xfrm>
            <a:off x="685800" y="1600200"/>
            <a:ext cx="5257800" cy="1828800"/>
          </a:xfrm>
          <a:prstGeom prst="roundRect">
            <a:avLst/>
          </a:prstGeom>
          <a:solidFill>
            <a:srgbClr val="ECEFF3"/>
          </a:solidFill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914400" y="1783080"/>
            <a:ext cx="4800600" cy="1463040"/>
          </a:xfrm>
          <a:prstGeom prst="rect">
            <a:avLst/>
          </a:prstGeom>
        </p:spPr>
        <p:txBody>
          <a:bodyPr/>
          <a:lstStyle/>
          <a:p>
            <a:r>
              <a:rPr b="1" sz="2000">
                <a:solidFill>
                  <a:srgbClr val="1B2A41"/>
                </a:solidFill>
                <a:latin typeface="맑은 고딕"/>
              </a:rPr>
              <a:t>정책은 이미 집행 중</a:t>
            </a:r>
          </a:p>
          <a:p>
            <a:r>
              <a:rPr sz="1600">
                <a:solidFill>
                  <a:srgbClr val="141C26"/>
                </a:solidFill>
                <a:latin typeface="맑은 고딕"/>
              </a:rPr>
              <a:t>· AI 기본법 2026.1 전면 시행</a:t>
            </a:r>
          </a:p>
          <a:p>
            <a:r>
              <a:rPr sz="1600">
                <a:solidFill>
                  <a:srgbClr val="141C26"/>
                </a:solidFill>
                <a:latin typeface="맑은 고딕"/>
              </a:rPr>
              <a:t>· 국가 R&amp;D 35.3조 원(+19.3%)</a:t>
            </a:r>
          </a:p>
          <a:p>
            <a:r>
              <a:rPr sz="1600">
                <a:solidFill>
                  <a:srgbClr val="141C26"/>
                </a:solidFill>
                <a:latin typeface="맑은 고딕"/>
              </a:rPr>
              <a:t>· K-휴머노이드 1조 원 목표</a:t>
            </a:r>
          </a:p>
        </p:txBody>
      </p:sp>
      <p:sp>
        <p:nvSpPr>
          <p:cNvPr id="5" name="Shape"/>
          <p:cNvSpPr/>
          <p:nvPr/>
        </p:nvSpPr>
        <p:spPr>
          <a:xfrm>
            <a:off x="6248400" y="1600200"/>
            <a:ext cx="5257800" cy="1828800"/>
          </a:xfrm>
          <a:prstGeom prst="roundRect">
            <a:avLst/>
          </a:prstGeom>
          <a:solidFill>
            <a:srgbClr val="ECEFF3"/>
          </a:solidFill>
        </p:spPr>
        <p:txBody>
          <a:bodyPr/>
          <a:lstStyle/>
          <a:p/>
        </p:txBody>
      </p:sp>
      <p:sp>
        <p:nvSpPr>
          <p:cNvPr id="6" name="TextBox"/>
          <p:cNvSpPr txBox="1"/>
          <p:nvPr/>
        </p:nvSpPr>
        <p:spPr>
          <a:xfrm>
            <a:off x="6477000" y="1783080"/>
            <a:ext cx="4800600" cy="1463040"/>
          </a:xfrm>
          <a:prstGeom prst="rect">
            <a:avLst/>
          </a:prstGeom>
        </p:spPr>
        <p:txBody>
          <a:bodyPr/>
          <a:lstStyle/>
          <a:p>
            <a:r>
              <a:rPr b="1" sz="2000">
                <a:solidFill>
                  <a:srgbClr val="1B2A41"/>
                </a:solidFill>
                <a:latin typeface="맑은 고딕"/>
              </a:rPr>
              <a:t>실적은 아직 완만</a:t>
            </a:r>
          </a:p>
          <a:p>
            <a:r>
              <a:rPr sz="1600">
                <a:solidFill>
                  <a:srgbClr val="141C26"/>
                </a:solidFill>
                <a:latin typeface="맑은 고딕"/>
              </a:rPr>
              <a:t>· 로봇산업 매출 6.17조 원, +3.2%</a:t>
            </a:r>
          </a:p>
          <a:p>
            <a:r>
              <a:rPr sz="1600">
                <a:solidFill>
                  <a:srgbClr val="141C26"/>
                </a:solidFill>
                <a:latin typeface="맑은 고딕"/>
              </a:rPr>
              <a:t>· 기업 전망: 악화 29.2% &gt; 개선 24.8%</a:t>
            </a:r>
          </a:p>
          <a:p>
            <a:r>
              <a:rPr sz="1600">
                <a:solidFill>
                  <a:srgbClr val="141C26"/>
                </a:solidFill>
                <a:latin typeface="맑은 고딕"/>
              </a:rPr>
              <a:t>· 두산로보틱스 영업손실 594억 원</a:t>
            </a:r>
          </a:p>
        </p:txBody>
      </p:sp>
      <p:sp>
        <p:nvSpPr>
          <p:cNvPr id="7" name="Shape"/>
          <p:cNvSpPr/>
          <p:nvPr/>
        </p:nvSpPr>
        <p:spPr>
          <a:xfrm>
            <a:off x="685800" y="3703320"/>
            <a:ext cx="10820400" cy="1554480"/>
          </a:xfrm>
          <a:prstGeom prst="roundRect">
            <a:avLst/>
          </a:prstGeom>
          <a:solidFill>
            <a:srgbClr val="1B2A41"/>
          </a:solidFill>
        </p:spPr>
        <p:txBody>
          <a:bodyPr/>
          <a:lstStyle/>
          <a:p/>
        </p:txBody>
      </p:sp>
      <p:sp>
        <p:nvSpPr>
          <p:cNvPr id="8" name="TextBox"/>
          <p:cNvSpPr txBox="1"/>
          <p:nvPr/>
        </p:nvSpPr>
        <p:spPr>
          <a:xfrm>
            <a:off x="914400" y="3886200"/>
            <a:ext cx="10363200" cy="1188720"/>
          </a:xfrm>
          <a:prstGeom prst="rect">
            <a:avLst/>
          </a:prstGeom>
        </p:spPr>
        <p:txBody>
          <a:bodyPr/>
          <a:lstStyle/>
          <a:p>
            <a:r>
              <a:rPr b="1" sz="2000">
                <a:solidFill>
                  <a:srgbClr val="E8632A"/>
                </a:solidFill>
                <a:latin typeface="맑은 고딕"/>
              </a:rPr>
              <a:t>결론: 수치로 시장을 판단하면 늦는다</a:t>
            </a:r>
          </a:p>
          <a:p>
            <a:r>
              <a:rPr sz="1600">
                <a:solidFill>
                  <a:srgbClr val="FFFFFF"/>
                </a:solidFill>
                <a:latin typeface="맑은 고딕"/>
              </a:rPr>
              <a:t>지금 돈은 하드웨어가 아니라 모델·시뮬레이션·데이터·규제 대응에서 집행되고 있다.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685800" y="5486400"/>
            <a:ext cx="10820400" cy="365760"/>
          </a:xfrm>
          <a:prstGeom prst="rect">
            <a:avLst/>
          </a:prstGeom>
        </p:spPr>
        <p:txBody>
          <a:bodyPr wrap="none"/>
          <a:lstStyle/>
          <a:p>
            <a:r>
              <a:rPr sz="1400">
                <a:solidFill>
                  <a:srgbClr val="5B6672"/>
                </a:solidFill>
                <a:latin typeface="맑은 고딕"/>
              </a:rPr>
              <a:t>출처: 로봇산업 실태조사(2024년 기준), 과기정통부, 산업통상부, 기업 공시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n0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685800" y="548640"/>
            <a:ext cx="10820400" cy="731520"/>
          </a:xfrm>
          <a:prstGeom prst="rect">
            <a:avLst/>
          </a:prstGeom>
        </p:spPr>
        <p:txBody>
          <a:bodyPr/>
          <a:lstStyle/>
          <a:p>
            <a:r>
              <a:rPr b="1" sz="2800">
                <a:solidFill>
                  <a:srgbClr val="141C26"/>
                </a:solidFill>
                <a:latin typeface="맑은 고딕"/>
              </a:rPr>
              <a:t>국내 로봇산업 매출의 절반은 여전히 제조업용 로봇이다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="685800" y="1508760"/>
          <a:ext cx="7315200" cy="3840480"/>
        </p:xfrm>
        <a:graphic>
          <a:graphicData uri="http://schemas.openxmlformats.org/drawingml/2006/chart">
            <c:chart xmlns:c="http://schemas.openxmlformats.org/drawingml/2006/chart" n0:id="rId2"/>
          </a:graphicData>
        </a:graphic>
      </p:graphicFrame>
      <p:sp>
        <p:nvSpPr>
          <p:cNvPr id="4" name="Shape"/>
          <p:cNvSpPr/>
          <p:nvPr/>
        </p:nvSpPr>
        <p:spPr>
          <a:xfrm>
            <a:off x="8382000" y="1508760"/>
            <a:ext cx="3124200" cy="1737360"/>
          </a:xfrm>
          <a:prstGeom prst="roundRect">
            <a:avLst/>
          </a:prstGeom>
          <a:solidFill>
            <a:srgbClr val="ECEFF3"/>
          </a:solidFill>
        </p:spPr>
        <p:txBody>
          <a:bodyPr/>
          <a:lstStyle/>
          <a:p/>
        </p:txBody>
      </p:sp>
      <p:sp>
        <p:nvSpPr>
          <p:cNvPr id="5" name="TextBox"/>
          <p:cNvSpPr txBox="1"/>
          <p:nvPr/>
        </p:nvSpPr>
        <p:spPr>
          <a:xfrm>
            <a:off x="8610600" y="1691640"/>
            <a:ext cx="2667000" cy="1371600"/>
          </a:xfrm>
          <a:prstGeom prst="rect">
            <a:avLst/>
          </a:prstGeom>
        </p:spPr>
        <p:txBody>
          <a:bodyPr/>
          <a:lstStyle/>
          <a:p>
            <a:r>
              <a:rPr b="1" sz="4000">
                <a:solidFill>
                  <a:srgbClr val="E8632A"/>
                </a:solidFill>
                <a:latin typeface="맑은 고딕"/>
              </a:rPr>
              <a:t>6.17조 원</a:t>
            </a:r>
          </a:p>
          <a:p>
            <a:r>
              <a:rPr sz="1400">
                <a:solidFill>
                  <a:srgbClr val="141C26"/>
                </a:solidFill>
                <a:latin typeface="맑은 고딕"/>
              </a:rPr>
              <a:t>2024년 로봇산업 매출, 사상 처음 6조 원 돌파(+3.2%)</a:t>
            </a:r>
          </a:p>
        </p:txBody>
      </p:sp>
      <p:sp>
        <p:nvSpPr>
          <p:cNvPr id="6" name="Shape"/>
          <p:cNvSpPr/>
          <p:nvPr/>
        </p:nvSpPr>
        <p:spPr>
          <a:xfrm>
            <a:off x="8382000" y="3474720"/>
            <a:ext cx="3124200" cy="1874520"/>
          </a:xfrm>
          <a:prstGeom prst="roundRect">
            <a:avLst/>
          </a:prstGeom>
          <a:solidFill>
            <a:srgbClr val="1B2A41"/>
          </a:solidFill>
        </p:spPr>
        <p:txBody>
          <a:bodyPr/>
          <a:lstStyle/>
          <a:p/>
        </p:txBody>
      </p:sp>
      <p:sp>
        <p:nvSpPr>
          <p:cNvPr id="7" name="TextBox"/>
          <p:cNvSpPr txBox="1"/>
          <p:nvPr/>
        </p:nvSpPr>
        <p:spPr>
          <a:xfrm>
            <a:off x="8610600" y="3657600"/>
            <a:ext cx="2667000" cy="1508760"/>
          </a:xfrm>
          <a:prstGeom prst="rect">
            <a:avLst/>
          </a:prstGeom>
        </p:spPr>
        <p:txBody>
          <a:bodyPr/>
          <a:lstStyle/>
          <a:p>
            <a:r>
              <a:rPr b="1" sz="2000">
                <a:solidFill>
                  <a:srgbClr val="E8632A"/>
                </a:solidFill>
                <a:latin typeface="맑은 고딕"/>
              </a:rPr>
              <a:t>함의</a:t>
            </a:r>
          </a:p>
          <a:p>
            <a:r>
              <a:rPr sz="1400">
                <a:solidFill>
                  <a:srgbClr val="FFFFFF"/>
                </a:solidFill>
                <a:latin typeface="맑은 고딕"/>
              </a:rPr>
              <a:t>· 중소기업 98.0%, 매출 10억 원 미만 65.1%</a:t>
            </a:r>
          </a:p>
          <a:p>
            <a:r>
              <a:rPr sz="1400">
                <a:solidFill>
                  <a:srgbClr val="FFFFFF"/>
                </a:solidFill>
                <a:latin typeface="맑은 고딕"/>
              </a:rPr>
              <a:t>· 부품·SW가 32.1% — 수익이 소프트웨어로 이동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685800" y="5486400"/>
            <a:ext cx="10820400" cy="365760"/>
          </a:xfrm>
          <a:prstGeom prst="rect">
            <a:avLst/>
          </a:prstGeom>
        </p:spPr>
        <p:txBody>
          <a:bodyPr wrap="none"/>
          <a:lstStyle/>
          <a:p>
            <a:r>
              <a:rPr sz="1400">
                <a:solidFill>
                  <a:srgbClr val="5B6672"/>
                </a:solidFill>
                <a:latin typeface="맑은 고딕"/>
              </a:rPr>
              <a:t>출처: 로봇산업 실태조사(2024년 기준, 2025년 12월 공표)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685800" y="548640"/>
            <a:ext cx="10820400" cy="731520"/>
          </a:xfrm>
          <a:prstGeom prst="rect">
            <a:avLst/>
          </a:prstGeom>
        </p:spPr>
        <p:txBody>
          <a:bodyPr/>
          <a:lstStyle/>
          <a:p>
            <a:r>
              <a:rPr b="1" sz="2800">
                <a:solidFill>
                  <a:srgbClr val="141C26"/>
                </a:solidFill>
                <a:latin typeface="맑은 고딕"/>
              </a:rPr>
              <a:t>글로벌 휴머노이드 전망은 출처에 따라 3배 차이 난다</a:t>
            </a:r>
          </a:p>
        </p:txBody>
      </p:sp>
      <p:sp>
        <p:nvSpPr>
          <p:cNvPr id="3" name="Shape"/>
          <p:cNvSpPr/>
          <p:nvPr/>
        </p:nvSpPr>
        <p:spPr>
          <a:xfrm>
            <a:off x="685800" y="1600200"/>
            <a:ext cx="5257800" cy="2377440"/>
          </a:xfrm>
          <a:prstGeom prst="roundRect">
            <a:avLst/>
          </a:prstGeom>
          <a:solidFill>
            <a:srgbClr val="ECEFF3"/>
          </a:solidFill>
        </p:spPr>
        <p:txBody>
          <a:bodyPr/>
          <a:lstStyle/>
          <a:p/>
        </p:txBody>
      </p:sp>
      <p:sp>
        <p:nvSpPr>
          <p:cNvPr id="4" name="TextBox"/>
          <p:cNvSpPr txBox="1"/>
          <p:nvPr/>
        </p:nvSpPr>
        <p:spPr>
          <a:xfrm>
            <a:off x="914400" y="1828800"/>
            <a:ext cx="4800600" cy="1920240"/>
          </a:xfrm>
          <a:prstGeom prst="rect">
            <a:avLst/>
          </a:prstGeom>
        </p:spPr>
        <p:txBody>
          <a:bodyPr/>
          <a:lstStyle/>
          <a:p>
            <a:r>
              <a:rPr b="1" sz="4000">
                <a:solidFill>
                  <a:srgbClr val="2E7DA8"/>
                </a:solidFill>
                <a:latin typeface="맑은 고딕"/>
              </a:rPr>
              <a:t>5억 달러</a:t>
            </a:r>
          </a:p>
          <a:p>
            <a:r>
              <a:rPr sz="1600">
                <a:solidFill>
                  <a:srgbClr val="141C26"/>
                </a:solidFill>
                <a:latin typeface="맑은 고딕"/>
              </a:rPr>
              <a:t>카운터포인트 기준 2025년 매출</a:t>
            </a:r>
          </a:p>
          <a:p>
            <a:r>
              <a:rPr sz="1600">
                <a:solidFill>
                  <a:srgbClr val="5B6672"/>
                </a:solidFill>
                <a:latin typeface="맑은 고딕"/>
              </a:rPr>
              <a:t>2026년 44억 달러 전망</a:t>
            </a:r>
          </a:p>
        </p:txBody>
      </p:sp>
      <p:sp>
        <p:nvSpPr>
          <p:cNvPr id="5" name="Shape"/>
          <p:cNvSpPr/>
          <p:nvPr/>
        </p:nvSpPr>
        <p:spPr>
          <a:xfrm>
            <a:off x="6248400" y="1600200"/>
            <a:ext cx="5257800" cy="2377440"/>
          </a:xfrm>
          <a:prstGeom prst="roundRect">
            <a:avLst/>
          </a:prstGeom>
          <a:solidFill>
            <a:srgbClr val="ECEFF3"/>
          </a:solidFill>
        </p:spPr>
        <p:txBody>
          <a:bodyPr/>
          <a:lstStyle/>
          <a:p/>
        </p:txBody>
      </p:sp>
      <p:sp>
        <p:nvSpPr>
          <p:cNvPr id="6" name="TextBox"/>
          <p:cNvSpPr txBox="1"/>
          <p:nvPr/>
        </p:nvSpPr>
        <p:spPr>
          <a:xfrm>
            <a:off x="6477000" y="1828800"/>
            <a:ext cx="4800600" cy="1920240"/>
          </a:xfrm>
          <a:prstGeom prst="rect">
            <a:avLst/>
          </a:prstGeom>
        </p:spPr>
        <p:txBody>
          <a:bodyPr/>
          <a:lstStyle/>
          <a:p>
            <a:r>
              <a:rPr b="1" sz="4000">
                <a:solidFill>
                  <a:srgbClr val="E8632A"/>
                </a:solidFill>
                <a:latin typeface="맑은 고딕"/>
              </a:rPr>
              <a:t>15억 달러</a:t>
            </a:r>
          </a:p>
          <a:p>
            <a:r>
              <a:rPr sz="1600">
                <a:solidFill>
                  <a:srgbClr val="141C26"/>
                </a:solidFill>
                <a:latin typeface="맑은 고딕"/>
              </a:rPr>
              <a:t>산업부 장관 발언 인용 2025년 매출</a:t>
            </a:r>
          </a:p>
          <a:p>
            <a:r>
              <a:rPr sz="1600">
                <a:solidFill>
                  <a:srgbClr val="5B6672"/>
                </a:solidFill>
                <a:latin typeface="맑은 고딕"/>
              </a:rPr>
              <a:t>2035년 380억 달러 전망</a:t>
            </a:r>
          </a:p>
        </p:txBody>
      </p:sp>
      <p:sp>
        <p:nvSpPr>
          <p:cNvPr id="7" name="Shape"/>
          <p:cNvSpPr/>
          <p:nvPr/>
        </p:nvSpPr>
        <p:spPr>
          <a:xfrm>
            <a:off x="685800" y="4251960"/>
            <a:ext cx="10820400" cy="1005840"/>
          </a:xfrm>
          <a:prstGeom prst="roundRect">
            <a:avLst/>
          </a:prstGeom>
          <a:solidFill>
            <a:srgbClr val="1B2A41"/>
          </a:solidFill>
        </p:spPr>
        <p:txBody>
          <a:bodyPr/>
          <a:lstStyle/>
          <a:p/>
        </p:txBody>
      </p:sp>
      <p:sp>
        <p:nvSpPr>
          <p:cNvPr id="8" name="TextBox"/>
          <p:cNvSpPr txBox="1"/>
          <p:nvPr/>
        </p:nvSpPr>
        <p:spPr>
          <a:xfrm>
            <a:off x="914400" y="4434840"/>
            <a:ext cx="10363200" cy="640080"/>
          </a:xfrm>
          <a:prstGeom prst="rect">
            <a:avLst/>
          </a:prstGeom>
        </p:spPr>
        <p:txBody>
          <a:bodyPr/>
          <a:lstStyle/>
          <a:p>
            <a:r>
              <a:rPr sz="1600">
                <a:solidFill>
                  <a:srgbClr val="FFFFFF"/>
                </a:solidFill>
                <a:latin typeface="맑은 고딕"/>
              </a:rPr>
              <a:t>유일한 국내 공식 수치는 로봇산업 통계뿐이다. 피지컬 AI 단일 시장규모는 확인 불가 — 수치는 범위로 말해야 한다.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685800" y="5486400"/>
            <a:ext cx="10820400" cy="365760"/>
          </a:xfrm>
          <a:prstGeom prst="rect">
            <a:avLst/>
          </a:prstGeom>
        </p:spPr>
        <p:txBody>
          <a:bodyPr wrap="none"/>
          <a:lstStyle/>
          <a:p>
            <a:r>
              <a:rPr sz="1400">
                <a:solidFill>
                  <a:srgbClr val="5B6672"/>
                </a:solidFill>
                <a:latin typeface="맑은 고딕"/>
              </a:rPr>
              <a:t>출처: 산업통상부 보도자료(2026.3), K-휴머노이드 연합 출범 자료(2025.4)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685800" y="457200"/>
            <a:ext cx="10820400" cy="731520"/>
          </a:xfrm>
          <a:prstGeom prst="rect">
            <a:avLst/>
          </a:prstGeom>
        </p:spPr>
        <p:txBody>
          <a:bodyPr/>
          <a:lstStyle/>
          <a:p>
            <a:r>
              <a:rPr b="1" sz="2800">
                <a:solidFill>
                  <a:srgbClr val="141C26"/>
                </a:solidFill>
                <a:latin typeface="맑은 고딕"/>
              </a:rPr>
              <a:t>시장은 대기업–로봇 자회사 수직계열 5강으로 재편됐다</a:t>
            </a:r>
          </a:p>
        </p:txBody>
      </p:sp>
      <p:graphicFrame>
        <p:nvGraphicFramePr>
          <p:cNvPr id="3" name="Table"/>
          <p:cNvGraphicFramePr/>
          <p:nvPr/>
        </p:nvGraphicFramePr>
        <p:xfrm>
          <a:off x="685800" y="1371600"/>
          <a:ext cx="10820400" cy="347472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579120">
                <a:tc>
                  <a:txBody>
                    <a:bodyPr/>
                    <a:lstStyle/>
                    <a:p>
                      <a:r>
                        <a:t>기업(계열)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최근 12개월 핵심 움직임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포지셔닝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t>삼성전자 / 레인보우로보틱스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지분 35% 최대주주, 산업용 휴머노이드 2026 출시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융합 지능형 휴머노이드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t>현대차그룹 / 보스턴다이내믹스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지분 100% 확보, 2028 양산, 캡티브 2.5만 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휴머노이드 양산 선두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t>LG전자 / 베어로보틱스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경영권 확보, 영국 키니시 인수로 VLA 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서비스로봇 + 매니퓰레이션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t>두산로보틱스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2025 매출 -29.6%, 영업손실 594억 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협동로봇에서 솔루션으로 전환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t>HD현대로보틱스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약 2,000억 원 유치·IPO, 용접 솔루션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산업용 AI 로봇 국내 1위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"/>
          <p:cNvSpPr txBox="1"/>
          <p:nvPr/>
        </p:nvSpPr>
        <p:spPr>
          <a:xfrm>
            <a:off x="685800" y="5120640"/>
            <a:ext cx="10820400" cy="365760"/>
          </a:xfrm>
          <a:prstGeom prst="rect">
            <a:avLst/>
          </a:prstGeom>
        </p:spPr>
        <p:txBody>
          <a:bodyPr wrap="none"/>
          <a:lstStyle/>
          <a:p>
            <a:r>
              <a:rPr b="1" sz="1600">
                <a:solidFill>
                  <a:srgbClr val="E8632A"/>
                </a:solidFill>
                <a:latin typeface="맑은 고딕"/>
              </a:rPr>
              <a:t>다섯 곳 모두 판매가를 공개하지 않는다 — 거래는 아직 프로젝트별 견적과 실증 중심이다.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685800" y="5486400"/>
            <a:ext cx="10820400" cy="365760"/>
          </a:xfrm>
          <a:prstGeom prst="rect">
            <a:avLst/>
          </a:prstGeom>
        </p:spPr>
        <p:txBody>
          <a:bodyPr wrap="none"/>
          <a:lstStyle/>
          <a:p>
            <a:r>
              <a:rPr sz="1400">
                <a:solidFill>
                  <a:srgbClr val="5B6672"/>
                </a:solidFill>
                <a:latin typeface="맑은 고딕"/>
              </a:rPr>
              <a:t>출처: 공정거래위 및 기업 공시, 연합뉴스·ZDNet Korea·시사저널이 보도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685800" y="548640"/>
            <a:ext cx="10820400" cy="731520"/>
          </a:xfrm>
          <a:prstGeom prst="rect">
            <a:avLst/>
          </a:prstGeom>
        </p:spPr>
        <p:txBody>
          <a:bodyPr/>
          <a:lstStyle/>
          <a:p>
            <a:r>
              <a:rPr b="1" sz="2800">
                <a:solidFill>
                  <a:srgbClr val="141C26"/>
                </a:solidFill>
                <a:latin typeface="맑은 고딕"/>
              </a:rPr>
              <a:t>제도가 먼저 깔렸다 — 12개월간 규제 환경이 통째로 바뀜다</a:t>
            </a:r>
          </a:p>
        </p:txBody>
      </p:sp>
      <p:sp>
        <p:nvSpPr>
          <p:cNvPr id="3" name="Shape"/>
          <p:cNvSpPr/>
          <p:nvPr/>
        </p:nvSpPr>
        <p:spPr>
          <a:xfrm>
            <a:off x="685800" y="1737360"/>
            <a:ext cx="2011680" cy="822960"/>
          </a:xfrm>
          <a:prstGeom prst="chevron">
            <a:avLst/>
          </a:prstGeom>
          <a:solidFill>
            <a:srgbClr val="2E7DA8"/>
          </a:solidFill>
        </p:spPr>
        <p:txBody>
          <a:bodyPr wrap="none" anchor="ctr"/>
          <a:lstStyle/>
          <a:p>
            <a:r>
              <a:rPr b="1" sz="1600">
                <a:solidFill>
                  <a:srgbClr val="FFFFFF"/>
                </a:solidFill>
                <a:latin typeface="맑은 고딕"/>
              </a:rPr>
              <a:t>2025.04</a:t>
            </a:r>
          </a:p>
        </p:txBody>
      </p:sp>
      <p:sp>
        <p:nvSpPr>
          <p:cNvPr id="4" name="Shape"/>
          <p:cNvSpPr/>
          <p:nvPr/>
        </p:nvSpPr>
        <p:spPr>
          <a:xfrm>
            <a:off x="2849880" y="1737360"/>
            <a:ext cx="2011680" cy="822960"/>
          </a:xfrm>
          <a:prstGeom prst="chevron">
            <a:avLst/>
          </a:prstGeom>
          <a:solidFill>
            <a:srgbClr val="2E7DA8"/>
          </a:solidFill>
        </p:spPr>
        <p:txBody>
          <a:bodyPr wrap="none" anchor="ctr"/>
          <a:lstStyle/>
          <a:p>
            <a:r>
              <a:rPr b="1" sz="1600">
                <a:solidFill>
                  <a:srgbClr val="FFFFFF"/>
                </a:solidFill>
                <a:latin typeface="맑은 고딕"/>
              </a:rPr>
              <a:t>2025.11</a:t>
            </a:r>
          </a:p>
        </p:txBody>
      </p:sp>
      <p:sp>
        <p:nvSpPr>
          <p:cNvPr id="5" name="Shape"/>
          <p:cNvSpPr/>
          <p:nvPr/>
        </p:nvSpPr>
        <p:spPr>
          <a:xfrm>
            <a:off x="5013960" y="1737360"/>
            <a:ext cx="2011680" cy="822960"/>
          </a:xfrm>
          <a:prstGeom prst="chevron">
            <a:avLst/>
          </a:prstGeom>
          <a:solidFill>
            <a:srgbClr val="1B2A41"/>
          </a:solidFill>
        </p:spPr>
        <p:txBody>
          <a:bodyPr wrap="none" anchor="ctr"/>
          <a:lstStyle/>
          <a:p>
            <a:r>
              <a:rPr b="1" sz="1600">
                <a:solidFill>
                  <a:srgbClr val="FFFFFF"/>
                </a:solidFill>
                <a:latin typeface="맑은 고딕"/>
              </a:rPr>
              <a:t>2025.12</a:t>
            </a:r>
          </a:p>
        </p:txBody>
      </p:sp>
      <p:sp>
        <p:nvSpPr>
          <p:cNvPr id="6" name="Shape"/>
          <p:cNvSpPr/>
          <p:nvPr/>
        </p:nvSpPr>
        <p:spPr>
          <a:xfrm>
            <a:off x="7178040" y="1737360"/>
            <a:ext cx="2011680" cy="822960"/>
          </a:xfrm>
          <a:prstGeom prst="chevron">
            <a:avLst/>
          </a:prstGeom>
          <a:solidFill>
            <a:srgbClr val="E8632A"/>
          </a:solidFill>
        </p:spPr>
        <p:txBody>
          <a:bodyPr wrap="none" anchor="ctr"/>
          <a:lstStyle/>
          <a:p>
            <a:r>
              <a:rPr b="1" sz="1600">
                <a:solidFill>
                  <a:srgbClr val="FFFFFF"/>
                </a:solidFill>
                <a:latin typeface="맑은 고딕"/>
              </a:rPr>
              <a:t>2026.01</a:t>
            </a:r>
          </a:p>
        </p:txBody>
      </p:sp>
      <p:sp>
        <p:nvSpPr>
          <p:cNvPr id="7" name="Shape"/>
          <p:cNvSpPr/>
          <p:nvPr/>
        </p:nvSpPr>
        <p:spPr>
          <a:xfrm>
            <a:off x="9342120" y="1737360"/>
            <a:ext cx="2011680" cy="822960"/>
          </a:xfrm>
          <a:prstGeom prst="chevron">
            <a:avLst/>
          </a:prstGeom>
          <a:solidFill>
            <a:srgbClr val="E8632A"/>
          </a:solidFill>
        </p:spPr>
        <p:txBody>
          <a:bodyPr wrap="none" anchor="ctr"/>
          <a:lstStyle/>
          <a:p>
            <a:r>
              <a:rPr b="1" sz="1600">
                <a:solidFill>
                  <a:srgbClr val="FFFFFF"/>
                </a:solidFill>
                <a:latin typeface="맑은 고딕"/>
              </a:rPr>
              <a:t>2026.03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685800" y="2743200"/>
            <a:ext cx="1920240" cy="1600200"/>
          </a:xfrm>
          <a:prstGeom prst="rect">
            <a:avLst/>
          </a:prstGeom>
        </p:spPr>
        <p:txBody>
          <a:bodyPr/>
          <a:lstStyle/>
          <a:p>
            <a:r>
              <a:rPr sz="1400">
                <a:solidFill>
                  <a:srgbClr val="141C26"/>
                </a:solidFill>
                <a:latin typeface="맑은 고딕"/>
              </a:rPr>
              <a:t>K-휴머노이드 연합 출범, 2030년 1조 원 목표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2849880" y="2743200"/>
            <a:ext cx="1920240" cy="1600200"/>
          </a:xfrm>
          <a:prstGeom prst="rect">
            <a:avLst/>
          </a:prstGeom>
        </p:spPr>
        <p:txBody>
          <a:bodyPr/>
          <a:lstStyle/>
          <a:p>
            <a:r>
              <a:rPr sz="1400">
                <a:solidFill>
                  <a:srgbClr val="141C26"/>
                </a:solidFill>
                <a:latin typeface="맑은 고딕"/>
              </a:rPr>
              <a:t>자율주행 레벨4 2027 상용화 방안, 실외이동로봇 고시 개정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013960" y="2743200"/>
            <a:ext cx="1920240" cy="1600200"/>
          </a:xfrm>
          <a:prstGeom prst="rect">
            <a:avLst/>
          </a:prstGeom>
        </p:spPr>
        <p:txBody>
          <a:bodyPr/>
          <a:lstStyle/>
          <a:p>
            <a:r>
              <a:rPr sz="1400">
                <a:solidFill>
                  <a:srgbClr val="141C26"/>
                </a:solidFill>
                <a:latin typeface="맑은 고딕"/>
              </a:rPr>
              <a:t>산업통상부 조직개편, 산업자원안보실 신설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7178040" y="2743200"/>
            <a:ext cx="1920240" cy="1600200"/>
          </a:xfrm>
          <a:prstGeom prst="rect">
            <a:avLst/>
          </a:prstGeom>
        </p:spPr>
        <p:txBody>
          <a:bodyPr/>
          <a:lstStyle/>
          <a:p>
            <a:r>
              <a:rPr sz="1400">
                <a:solidFill>
                  <a:srgbClr val="141C26"/>
                </a:solidFill>
                <a:latin typeface="맑은 고딕"/>
              </a:rPr>
              <a:t>AI 기본법 전면 시행, 고영향 AI 의무 발생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9342120" y="2743200"/>
            <a:ext cx="1920240" cy="1600200"/>
          </a:xfrm>
          <a:prstGeom prst="rect">
            <a:avLst/>
          </a:prstGeom>
        </p:spPr>
        <p:txBody>
          <a:bodyPr/>
          <a:lstStyle/>
          <a:p>
            <a:r>
              <a:rPr sz="1400">
                <a:solidFill>
                  <a:srgbClr val="141C26"/>
                </a:solidFill>
                <a:latin typeface="맑은 고딕"/>
              </a:rPr>
              <a:t>AI 로봇 M.AX 얼라이언스 간담회, 지원 확대 예고</a:t>
            </a:r>
          </a:p>
        </p:txBody>
      </p:sp>
      <p:sp>
        <p:nvSpPr>
          <p:cNvPr id="13" name="Shape"/>
          <p:cNvSpPr/>
          <p:nvPr/>
        </p:nvSpPr>
        <p:spPr>
          <a:xfrm>
            <a:off x="685800" y="4480560"/>
            <a:ext cx="10820400" cy="822960"/>
          </a:xfrm>
          <a:prstGeom prst="roundRect">
            <a:avLst/>
          </a:prstGeom>
          <a:solidFill>
            <a:srgbClr val="ECEFF3"/>
          </a:solidFill>
        </p:spPr>
        <p:txBody>
          <a:bodyPr/>
          <a:lstStyle/>
          <a:p/>
        </p:txBody>
      </p:sp>
      <p:sp>
        <p:nvSpPr>
          <p:cNvPr id="14" name="TextBox"/>
          <p:cNvSpPr txBox="1"/>
          <p:nvPr/>
        </p:nvSpPr>
        <p:spPr>
          <a:xfrm>
            <a:off x="914400" y="4617720"/>
            <a:ext cx="10363200" cy="548640"/>
          </a:xfrm>
          <a:prstGeom prst="rect">
            <a:avLst/>
          </a:prstGeom>
        </p:spPr>
        <p:txBody>
          <a:bodyPr/>
          <a:lstStyle/>
          <a:p>
            <a:r>
              <a:rPr b="1" sz="1600">
                <a:solidFill>
                  <a:srgbClr val="1B2A41"/>
                </a:solidFill>
                <a:latin typeface="맑은 고딕"/>
              </a:rPr>
              <a:t>향후 1–2년 수요는 기업의 자발 투자보다 국가과제·실증사업·규제 대응에서 먼저 나타날 가능성이 크다.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685800" y="5486400"/>
            <a:ext cx="10820400" cy="365760"/>
          </a:xfrm>
          <a:prstGeom prst="rect">
            <a:avLst/>
          </a:prstGeom>
        </p:spPr>
        <p:txBody>
          <a:bodyPr wrap="none"/>
          <a:lstStyle/>
          <a:p>
            <a:r>
              <a:rPr sz="1400">
                <a:solidFill>
                  <a:srgbClr val="5B6672"/>
                </a:solidFill>
                <a:latin typeface="맑은 고딕"/>
              </a:rPr>
              <a:t>출처: 산업통상부·국토교통부 보도자료 및 고시, 연합뉴스 보도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685800" y="548640"/>
            <a:ext cx="10820400" cy="731520"/>
          </a:xfrm>
          <a:prstGeom prst="rect">
            <a:avLst/>
          </a:prstGeom>
        </p:spPr>
        <p:txBody>
          <a:bodyPr/>
          <a:lstStyle/>
          <a:p>
            <a:r>
              <a:rPr b="1" sz="2800">
                <a:solidFill>
                  <a:srgbClr val="141C26"/>
                </a:solidFill>
                <a:latin typeface="맑은 고딕"/>
              </a:rPr>
              <a:t>승부처는 하드웨어가 아니라 로봇의 두뇌로 옮겨갔다</a:t>
            </a:r>
          </a:p>
        </p:txBody>
      </p:sp>
      <p:sp>
        <p:nvSpPr>
          <p:cNvPr id="3" name="Shape"/>
          <p:cNvSpPr/>
          <p:nvPr/>
        </p:nvSpPr>
        <p:spPr>
          <a:xfrm>
            <a:off x="1463040" y="1737360"/>
            <a:ext cx="914400" cy="914400"/>
          </a:xfrm>
          <a:prstGeom prst="ellipse">
            <a:avLst/>
          </a:prstGeom>
          <a:solidFill>
            <a:srgbClr val="1B2A41"/>
          </a:solidFill>
        </p:spPr>
        <p:txBody>
          <a:bodyPr wrap="none" anchor="ctr"/>
          <a:lstStyle/>
          <a:p>
            <a:r>
              <a:rPr b="1" sz="1600">
                <a:solidFill>
                  <a:srgbClr val="FFFFFF"/>
                </a:solidFill>
                <a:latin typeface="맑은 고딕"/>
              </a:rPr>
              <a:t>VLA</a:t>
            </a:r>
          </a:p>
        </p:txBody>
      </p:sp>
      <p:sp>
        <p:nvSpPr>
          <p:cNvPr id="4" name="Shape"/>
          <p:cNvSpPr/>
          <p:nvPr/>
        </p:nvSpPr>
        <p:spPr>
          <a:xfrm>
            <a:off x="4206240" y="1737360"/>
            <a:ext cx="914400" cy="914400"/>
          </a:xfrm>
          <a:prstGeom prst="ellipse">
            <a:avLst/>
          </a:prstGeom>
          <a:solidFill>
            <a:srgbClr val="2E7DA8"/>
          </a:solidFill>
        </p:spPr>
        <p:txBody>
          <a:bodyPr wrap="none" anchor="ctr"/>
          <a:lstStyle/>
          <a:p>
            <a:r>
              <a:rPr b="1" sz="1600">
                <a:solidFill>
                  <a:srgbClr val="FFFFFF"/>
                </a:solidFill>
                <a:latin typeface="맑은 고딕"/>
              </a:rPr>
              <a:t>SIM</a:t>
            </a:r>
          </a:p>
        </p:txBody>
      </p:sp>
      <p:sp>
        <p:nvSpPr>
          <p:cNvPr id="5" name="Shape"/>
          <p:cNvSpPr/>
          <p:nvPr/>
        </p:nvSpPr>
        <p:spPr>
          <a:xfrm>
            <a:off x="6949440" y="1737360"/>
            <a:ext cx="914400" cy="914400"/>
          </a:xfrm>
          <a:prstGeom prst="ellipse">
            <a:avLst/>
          </a:prstGeom>
          <a:solidFill>
            <a:srgbClr val="E8632A"/>
          </a:solidFill>
        </p:spPr>
        <p:txBody>
          <a:bodyPr wrap="none" anchor="ctr"/>
          <a:lstStyle/>
          <a:p>
            <a:r>
              <a:rPr b="1" sz="1600">
                <a:solidFill>
                  <a:srgbClr val="FFFFFF"/>
                </a:solidFill>
                <a:latin typeface="맑은 고딕"/>
              </a:rPr>
              <a:t>칩</a:t>
            </a:r>
          </a:p>
        </p:txBody>
      </p:sp>
      <p:sp>
        <p:nvSpPr>
          <p:cNvPr id="6" name="Shape"/>
          <p:cNvSpPr/>
          <p:nvPr/>
        </p:nvSpPr>
        <p:spPr>
          <a:xfrm>
            <a:off x="9692640" y="1737360"/>
            <a:ext cx="914400" cy="914400"/>
          </a:xfrm>
          <a:prstGeom prst="ellipse">
            <a:avLst/>
          </a:prstGeom>
          <a:solidFill>
            <a:srgbClr val="5B6672"/>
          </a:solidFill>
        </p:spPr>
        <p:txBody>
          <a:bodyPr wrap="none" anchor="ctr"/>
          <a:lstStyle/>
          <a:p>
            <a:r>
              <a:rPr b="1" sz="1600">
                <a:solidFill>
                  <a:srgbClr val="FFFFFF"/>
                </a:solidFill>
                <a:latin typeface="맑은 고딕"/>
              </a:rPr>
              <a:t>데이터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685800" y="2834640"/>
            <a:ext cx="2468880" cy="1920240"/>
          </a:xfrm>
          <a:prstGeom prst="rect">
            <a:avLst/>
          </a:prstGeom>
        </p:spPr>
        <p:txBody>
          <a:bodyPr/>
          <a:lstStyle/>
          <a:p>
            <a:pPr algn="ctr"/>
            <a:r>
              <a:rPr b="1" sz="2000">
                <a:solidFill>
                  <a:srgbClr val="1B2A41"/>
                </a:solidFill>
                <a:latin typeface="맑은 고딕"/>
              </a:rPr>
              <a:t>파운데이션 모델</a:t>
            </a:r>
          </a:p>
          <a:p>
            <a:pPr algn="ctr"/>
            <a:r>
              <a:rPr sz="1400">
                <a:solidFill>
                  <a:srgbClr val="141C26"/>
                </a:solidFill>
                <a:latin typeface="맑은 고딕"/>
              </a:rPr>
              <a:t>정부가 2028년까지 로봇 공용 AI 모델을 개발하고, LG는 인수로 VLA를 바로 확보했다.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3429000" y="2834640"/>
            <a:ext cx="2468880" cy="1920240"/>
          </a:xfrm>
          <a:prstGeom prst="rect">
            <a:avLst/>
          </a:prstGeom>
        </p:spPr>
        <p:txBody>
          <a:bodyPr/>
          <a:lstStyle/>
          <a:p>
            <a:pPr algn="ctr"/>
            <a:r>
              <a:rPr b="1" sz="2000">
                <a:solidFill>
                  <a:srgbClr val="1B2A41"/>
                </a:solidFill>
                <a:latin typeface="맑은 고딕"/>
              </a:rPr>
              <a:t>시뮬레이션</a:t>
            </a:r>
          </a:p>
          <a:p>
            <a:pPr algn="ctr"/>
            <a:r>
              <a:rPr sz="1400">
                <a:solidFill>
                  <a:srgbClr val="141C26"/>
                </a:solidFill>
                <a:latin typeface="맑은 고딕"/>
              </a:rPr>
              <a:t>엔비디아 코스모스에 대응해 한국형 시뮬레이터 구축이 추진된다.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6172200" y="2834640"/>
            <a:ext cx="2468880" cy="1920240"/>
          </a:xfrm>
          <a:prstGeom prst="rect">
            <a:avLst/>
          </a:prstGeom>
        </p:spPr>
        <p:txBody>
          <a:bodyPr/>
          <a:lstStyle/>
          <a:p>
            <a:pPr algn="ctr"/>
            <a:r>
              <a:rPr b="1" sz="2000">
                <a:solidFill>
                  <a:srgbClr val="1B2A41"/>
                </a:solidFill>
                <a:latin typeface="맑은 고딕"/>
              </a:rPr>
              <a:t>온디바이스 반도체</a:t>
            </a:r>
          </a:p>
          <a:p>
            <a:pPr algn="ctr"/>
            <a:r>
              <a:rPr sz="1400">
                <a:solidFill>
                  <a:srgbClr val="141C26"/>
                </a:solidFill>
                <a:latin typeface="맑은 고딕"/>
              </a:rPr>
              <a:t>리벨리온·딥엑스가 연합에 참여하고 저전력 칩 R&amp;D가 진행된다.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8915400" y="2834640"/>
            <a:ext cx="2468880" cy="1920240"/>
          </a:xfrm>
          <a:prstGeom prst="rect">
            <a:avLst/>
          </a:prstGeom>
        </p:spPr>
        <p:txBody>
          <a:bodyPr/>
          <a:lstStyle/>
          <a:p>
            <a:pPr algn="ctr"/>
            <a:r>
              <a:rPr b="1" sz="2000">
                <a:solidFill>
                  <a:srgbClr val="1B2A41"/>
                </a:solidFill>
                <a:latin typeface="맑은 고딕"/>
              </a:rPr>
              <a:t>현장 데이터</a:t>
            </a:r>
          </a:p>
          <a:p>
            <a:pPr algn="ctr"/>
            <a:r>
              <a:rPr sz="1400">
                <a:solidFill>
                  <a:srgbClr val="141C26"/>
                </a:solidFill>
                <a:latin typeface="맑은 고딕"/>
              </a:rPr>
              <a:t>저비용 수집 장비와 원본 영상 활용 허용이 병목을 푸는 중이다.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685800" y="5486400"/>
            <a:ext cx="10820400" cy="365760"/>
          </a:xfrm>
          <a:prstGeom prst="rect">
            <a:avLst/>
          </a:prstGeom>
        </p:spPr>
        <p:txBody>
          <a:bodyPr wrap="none"/>
          <a:lstStyle/>
          <a:p>
            <a:r>
              <a:rPr sz="1400">
                <a:solidFill>
                  <a:srgbClr val="5B6672"/>
                </a:solidFill>
                <a:latin typeface="맑은 고딕"/>
              </a:rPr>
              <a:t>출처: 산업통상부 K-휴머노이드 자료, ZDNet Korea, 국토교통부 발표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685800" y="457200"/>
            <a:ext cx="10820400" cy="731520"/>
          </a:xfrm>
          <a:prstGeom prst="rect">
            <a:avLst/>
          </a:prstGeom>
        </p:spPr>
        <p:txBody>
          <a:bodyPr/>
          <a:lstStyle/>
          <a:p>
            <a:r>
              <a:rPr b="1" sz="2800">
                <a:solidFill>
                  <a:srgbClr val="141C26"/>
                </a:solidFill>
                <a:latin typeface="맑은 고딕"/>
              </a:rPr>
              <a:t>사내 자료는 글로벌은 짚지만 한국 레이어가 비어 있다</a:t>
            </a:r>
          </a:p>
        </p:txBody>
      </p:sp>
      <p:graphicFrame>
        <p:nvGraphicFramePr>
          <p:cNvPr id="3" name="Table"/>
          <p:cNvGraphicFramePr/>
          <p:nvPr/>
        </p:nvGraphicFramePr>
        <p:xfrm>
          <a:off x="685800" y="1371600"/>
          <a:ext cx="10820400" cy="347472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57912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외부에서 보는 시각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사내 자료의 인식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t>지리적 초점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대기업 계열화로 한국 시장이 재편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글로벌 설치대수·IFR 트렌드 중심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t>정책·규제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기본법·레벨4 로드맵이 거래 조건을 변경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국제 안전표준 중심, 한국 법제 미반영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t>성장 온도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매출 +3.2%, 기업 전망은 악화 우위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도입 가속·RaaS 확산 등 확장 기조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t>경쟁 구도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삼성·현대차·LG의 지분·인수가 구도를 결정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주요 플레이어 간략 정리 수준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t>영업 연결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시뮬레이션·데이터·반도체 수요로 직결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피지컬 AI 주제 영업 리포트 미확인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"/>
          <p:cNvSpPr txBox="1"/>
          <p:nvPr/>
        </p:nvSpPr>
        <p:spPr>
          <a:xfrm>
            <a:off x="685800" y="5120640"/>
            <a:ext cx="10820400" cy="365760"/>
          </a:xfrm>
          <a:prstGeom prst="rect">
            <a:avLst/>
          </a:prstGeom>
        </p:spPr>
        <p:txBody>
          <a:bodyPr wrap="none"/>
          <a:lstStyle/>
          <a:p>
            <a:r>
              <a:rPr b="1" sz="1600">
                <a:solidFill>
                  <a:srgbClr val="E8632A"/>
                </a:solidFill>
                <a:latin typeface="맑은 고딕"/>
              </a:rPr>
              <a:t>가장 큰 공백은 사내 지식이 글로벌에서 멈춰 고객의 구매 결정까지 연결되지 않는다는 점이다.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685800" y="5486400"/>
            <a:ext cx="10820400" cy="365760"/>
          </a:xfrm>
          <a:prstGeom prst="rect">
            <a:avLst/>
          </a:prstGeom>
        </p:spPr>
        <p:txBody>
          <a:bodyPr wrap="none"/>
          <a:lstStyle/>
          <a:p>
            <a:r>
              <a:rPr sz="1400">
                <a:solidFill>
                  <a:srgbClr val="5B6672"/>
                </a:solidFill>
                <a:latin typeface="맑은 고딕"/>
              </a:rPr>
              <a:t>대조 자료: 사내 로봇산업 트렌드 분석 문서, 사내 AI 혁신 리포트</a:t>
            </a:r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685800" y="548640"/>
            <a:ext cx="10820400" cy="731520"/>
          </a:xfrm>
          <a:prstGeom prst="rect">
            <a:avLst/>
          </a:prstGeom>
        </p:spPr>
        <p:txBody>
          <a:bodyPr/>
          <a:lstStyle/>
          <a:p>
            <a:r>
              <a:rPr b="1" sz="2800">
                <a:solidFill>
                  <a:srgbClr val="141C26"/>
                </a:solidFill>
                <a:latin typeface="맑은 고딕"/>
              </a:rPr>
              <a:t>낙관론을 꺾는 세 개의 숫자를 먼저 보아야 한다</a:t>
            </a:r>
          </a:p>
        </p:txBody>
      </p:sp>
      <p:sp>
        <p:nvSpPr>
          <p:cNvPr id="3" name="Shape"/>
          <p:cNvSpPr/>
          <p:nvPr/>
        </p:nvSpPr>
        <p:spPr>
          <a:xfrm>
            <a:off x="685800" y="1737360"/>
            <a:ext cx="3383280" cy="2560320"/>
          </a:xfrm>
          <a:prstGeom prst="roundRect">
            <a:avLst/>
          </a:prstGeom>
          <a:solidFill>
            <a:srgbClr val="ECEFF3"/>
          </a:solidFill>
        </p:spPr>
        <p:txBody>
          <a:bodyPr/>
          <a:lstStyle/>
          <a:p/>
        </p:txBody>
      </p:sp>
      <p:sp>
        <p:nvSpPr>
          <p:cNvPr id="4" name="Shape"/>
          <p:cNvSpPr/>
          <p:nvPr/>
        </p:nvSpPr>
        <p:spPr>
          <a:xfrm>
            <a:off x="4404360" y="1737360"/>
            <a:ext cx="3383280" cy="2560320"/>
          </a:xfrm>
          <a:prstGeom prst="roundRect">
            <a:avLst/>
          </a:prstGeom>
          <a:solidFill>
            <a:srgbClr val="ECEFF3"/>
          </a:solidFill>
        </p:spPr>
        <p:txBody>
          <a:bodyPr/>
          <a:lstStyle/>
          <a:p/>
        </p:txBody>
      </p:sp>
      <p:sp>
        <p:nvSpPr>
          <p:cNvPr id="5" name="Shape"/>
          <p:cNvSpPr/>
          <p:nvPr/>
        </p:nvSpPr>
        <p:spPr>
          <a:xfrm>
            <a:off x="8122920" y="1737360"/>
            <a:ext cx="3383280" cy="2560320"/>
          </a:xfrm>
          <a:prstGeom prst="roundRect">
            <a:avLst/>
          </a:prstGeom>
          <a:solidFill>
            <a:srgbClr val="ECEFF3"/>
          </a:solidFill>
        </p:spPr>
        <p:txBody>
          <a:bodyPr/>
          <a:lstStyle/>
          <a:p/>
        </p:txBody>
      </p:sp>
      <p:sp>
        <p:nvSpPr>
          <p:cNvPr id="6" name="TextBox"/>
          <p:cNvSpPr txBox="1"/>
          <p:nvPr/>
        </p:nvSpPr>
        <p:spPr>
          <a:xfrm>
            <a:off x="914400" y="1965960"/>
            <a:ext cx="2926080" cy="2103120"/>
          </a:xfrm>
          <a:prstGeom prst="rect">
            <a:avLst/>
          </a:prstGeom>
        </p:spPr>
        <p:txBody>
          <a:bodyPr/>
          <a:lstStyle/>
          <a:p>
            <a:r>
              <a:rPr b="1" sz="4000">
                <a:solidFill>
                  <a:srgbClr val="E8632A"/>
                </a:solidFill>
                <a:latin typeface="맑은 고딕"/>
              </a:rPr>
              <a:t>+3.2%</a:t>
            </a:r>
          </a:p>
          <a:p>
            <a:r>
              <a:rPr sz="1600">
                <a:solidFill>
                  <a:srgbClr val="141C26"/>
                </a:solidFill>
                <a:latin typeface="맑은 고딕"/>
              </a:rPr>
              <a:t>2024년 국내 로봇산업 매출 증가율. 붐에 비해 완만하다.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4632960" y="1965960"/>
            <a:ext cx="2926080" cy="2103120"/>
          </a:xfrm>
          <a:prstGeom prst="rect">
            <a:avLst/>
          </a:prstGeom>
        </p:spPr>
        <p:txBody>
          <a:bodyPr/>
          <a:lstStyle/>
          <a:p>
            <a:r>
              <a:rPr b="1" sz="4000">
                <a:solidFill>
                  <a:srgbClr val="E8632A"/>
                </a:solidFill>
                <a:latin typeface="맑은 고딕"/>
              </a:rPr>
              <a:t>-29.6%</a:t>
            </a:r>
          </a:p>
          <a:p>
            <a:r>
              <a:rPr sz="1600">
                <a:solidFill>
                  <a:srgbClr val="141C26"/>
                </a:solidFill>
                <a:latin typeface="맑은 고딕"/>
              </a:rPr>
              <a:t>두산로보틱스 2025년 매출 감소율. 영업손실 594억 원.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8351520" y="1965960"/>
            <a:ext cx="2926080" cy="2103120"/>
          </a:xfrm>
          <a:prstGeom prst="rect">
            <a:avLst/>
          </a:prstGeom>
        </p:spPr>
        <p:txBody>
          <a:bodyPr/>
          <a:lstStyle/>
          <a:p>
            <a:r>
              <a:rPr b="1" sz="4000">
                <a:solidFill>
                  <a:srgbClr val="E8632A"/>
                </a:solidFill>
                <a:latin typeface="맑은 고딕"/>
              </a:rPr>
              <a:t>368건</a:t>
            </a:r>
          </a:p>
          <a:p>
            <a:r>
              <a:rPr sz="1600">
                <a:solidFill>
                  <a:srgbClr val="141C26"/>
                </a:solidFill>
                <a:latin typeface="맑은 고딕"/>
              </a:rPr>
              <a:t>한국 휴머노이드 특허. 중국 5,688건과 격차가 크다.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685800" y="4572000"/>
            <a:ext cx="10820400" cy="640080"/>
          </a:xfrm>
          <a:prstGeom prst="rect">
            <a:avLst/>
          </a:prstGeom>
        </p:spPr>
        <p:txBody>
          <a:bodyPr/>
          <a:lstStyle/>
          <a:p>
            <a:r>
              <a:rPr b="1" sz="1600">
                <a:solidFill>
                  <a:srgbClr val="1B2A41"/>
                </a:solidFill>
                <a:latin typeface="맑은 고딕"/>
              </a:rPr>
              <a:t>2028년 양산, 1조 원 투자, 2027년 레벨4 상용화는 모두 목표치다 — 지연 가능성을 전제로 계획해야 한다.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85800" y="5486400"/>
            <a:ext cx="10820400" cy="365760"/>
          </a:xfrm>
          <a:prstGeom prst="rect">
            <a:avLst/>
          </a:prstGeom>
        </p:spPr>
        <p:txBody>
          <a:bodyPr wrap="none"/>
          <a:lstStyle/>
          <a:p>
            <a:r>
              <a:rPr sz="1400">
                <a:solidFill>
                  <a:srgbClr val="5B6672"/>
                </a:solidFill>
                <a:latin typeface="맑은 고딕"/>
              </a:rPr>
              <a:t>출처: 로봇산업 실태조사, 두산로보틱스 공시, 산업통상자원부 보도자료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1"/>
          </a:solidFill>
        </p:spPr>
        <p:txBody>
          <a:bodyPr/>
          <a:lstStyle/>
          <a:p/>
        </p:txBody>
      </p:sp>
      <p:sp>
        <p:nvSpPr>
          <p:cNvPr id="3" name="TextBox"/>
          <p:cNvSpPr txBox="1"/>
          <p:nvPr/>
        </p:nvSpPr>
        <p:spPr>
          <a:xfrm>
            <a:off x="685800" y="731520"/>
            <a:ext cx="10820400" cy="731520"/>
          </a:xfrm>
          <a:prstGeom prst="rect">
            <a:avLst/>
          </a:prstGeom>
        </p:spPr>
        <p:txBody>
          <a:bodyPr/>
          <a:lstStyle/>
          <a:p>
            <a:r>
              <a:rPr b="1" sz="2800">
                <a:solidFill>
                  <a:srgbClr val="FFFFFF"/>
                </a:solidFill>
                <a:latin typeface="맑은 고딕"/>
              </a:rPr>
              <a:t>사내 시장자료에 한국 레이어를 넣고, 지금 집행되는 수요부터 공략하자</a:t>
            </a:r>
          </a:p>
        </p:txBody>
      </p:sp>
      <p:sp>
        <p:nvSpPr>
          <p:cNvPr id="4" name="Shape"/>
          <p:cNvSpPr/>
          <p:nvPr/>
        </p:nvSpPr>
        <p:spPr>
          <a:xfrm>
            <a:off x="685800" y="1920240"/>
            <a:ext cx="3383280" cy="2377440"/>
          </a:xfrm>
          <a:prstGeom prst="roundRect">
            <a:avLst/>
          </a:prstGeom>
          <a:solidFill>
            <a:srgbClr val="26374F"/>
          </a:solidFill>
        </p:spPr>
        <p:txBody>
          <a:bodyPr/>
          <a:lstStyle/>
          <a:p/>
        </p:txBody>
      </p:sp>
      <p:sp>
        <p:nvSpPr>
          <p:cNvPr id="5" name="Shape"/>
          <p:cNvSpPr/>
          <p:nvPr/>
        </p:nvSpPr>
        <p:spPr>
          <a:xfrm>
            <a:off x="4404360" y="1920240"/>
            <a:ext cx="3383280" cy="2377440"/>
          </a:xfrm>
          <a:prstGeom prst="roundRect">
            <a:avLst/>
          </a:prstGeom>
          <a:solidFill>
            <a:srgbClr val="26374F"/>
          </a:solidFill>
        </p:spPr>
        <p:txBody>
          <a:bodyPr/>
          <a:lstStyle/>
          <a:p/>
        </p:txBody>
      </p:sp>
      <p:sp>
        <p:nvSpPr>
          <p:cNvPr id="6" name="Shape"/>
          <p:cNvSpPr/>
          <p:nvPr/>
        </p:nvSpPr>
        <p:spPr>
          <a:xfrm>
            <a:off x="8122920" y="1920240"/>
            <a:ext cx="3383280" cy="2377440"/>
          </a:xfrm>
          <a:prstGeom prst="roundRect">
            <a:avLst/>
          </a:prstGeom>
          <a:solidFill>
            <a:srgbClr val="26374F"/>
          </a:solidFill>
        </p:spPr>
        <p:txBody>
          <a:bodyPr/>
          <a:lstStyle/>
          <a:p/>
        </p:txBody>
      </p:sp>
      <p:sp>
        <p:nvSpPr>
          <p:cNvPr id="7" name="TextBox"/>
          <p:cNvSpPr txBox="1"/>
          <p:nvPr/>
        </p:nvSpPr>
        <p:spPr>
          <a:xfrm>
            <a:off x="914400" y="2148840"/>
            <a:ext cx="2926080" cy="1920240"/>
          </a:xfrm>
          <a:prstGeom prst="rect">
            <a:avLst/>
          </a:prstGeom>
        </p:spPr>
        <p:txBody>
          <a:bodyPr/>
          <a:lstStyle/>
          <a:p>
            <a:r>
              <a:rPr b="1" sz="4000">
                <a:solidFill>
                  <a:srgbClr val="E8632A"/>
                </a:solidFill>
                <a:latin typeface="맑은 고딕"/>
              </a:rPr>
              <a:t>30일</a:t>
            </a:r>
          </a:p>
          <a:p>
            <a:r>
              <a:rPr sz="1600">
                <a:solidFill>
                  <a:srgbClr val="FFFFFF"/>
                </a:solidFill>
                <a:latin typeface="맑은 고딕"/>
              </a:rPr>
              <a:t>사내 시장자료에 국내 수치·경쟁 5강·정책 타임라인을 단일 문서로 정리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4632960" y="2148840"/>
            <a:ext cx="2926080" cy="1920240"/>
          </a:xfrm>
          <a:prstGeom prst="rect">
            <a:avLst/>
          </a:prstGeom>
        </p:spPr>
        <p:txBody>
          <a:bodyPr/>
          <a:lstStyle/>
          <a:p>
            <a:r>
              <a:rPr b="1" sz="4000">
                <a:solidFill>
                  <a:srgbClr val="E8632A"/>
                </a:solidFill>
                <a:latin typeface="맑은 고딕"/>
              </a:rPr>
              <a:t>60일</a:t>
            </a:r>
          </a:p>
          <a:p>
            <a:r>
              <a:rPr sz="1600">
                <a:solidFill>
                  <a:srgbClr val="FFFFFF"/>
                </a:solidFill>
                <a:latin typeface="맑은 고딕"/>
              </a:rPr>
              <a:t>대기업 계열 로봇사와 연합 참여사 대상 시뮬레이션·데이터 수요 탐색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8351520" y="2148840"/>
            <a:ext cx="2926080" cy="1920240"/>
          </a:xfrm>
          <a:prstGeom prst="rect">
            <a:avLst/>
          </a:prstGeom>
        </p:spPr>
        <p:txBody>
          <a:bodyPr/>
          <a:lstStyle/>
          <a:p>
            <a:r>
              <a:rPr b="1" sz="4000">
                <a:solidFill>
                  <a:srgbClr val="E8632A"/>
                </a:solidFill>
                <a:latin typeface="맑은 고딕"/>
              </a:rPr>
              <a:t>90일</a:t>
            </a:r>
          </a:p>
          <a:p>
            <a:r>
              <a:rPr sz="1600">
                <a:solidFill>
                  <a:srgbClr val="FFFFFF"/>
                </a:solidFill>
                <a:latin typeface="맑은 고딕"/>
              </a:rPr>
              <a:t>고영향 AI 대응과 안전인증 문서화를 묶은 제안으로 연결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85800" y="4663440"/>
            <a:ext cx="10820400" cy="640080"/>
          </a:xfrm>
          <a:prstGeom prst="rect">
            <a:avLst/>
          </a:prstGeom>
        </p:spPr>
        <p:txBody>
          <a:bodyPr/>
          <a:lstStyle/>
          <a:p>
            <a:r>
              <a:rPr b="1" sz="2000">
                <a:solidFill>
                  <a:srgbClr val="E8632A"/>
                </a:solidFill>
                <a:latin typeface="맑은 고딕"/>
              </a:rPr>
              <a:t>요청: 분기별로 갱신되는 국내 피지컬 AI 단일 시장문서의 오너십 지정과 영업팀 입력 채널 확보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685800" y="5486400"/>
            <a:ext cx="10820400" cy="365760"/>
          </a:xfrm>
          <a:prstGeom prst="rect">
            <a:avLst/>
          </a:prstGeom>
        </p:spPr>
        <p:txBody>
          <a:bodyPr wrap="none"/>
          <a:lstStyle/>
          <a:p>
            <a:r>
              <a:rPr sz="1400">
                <a:solidFill>
                  <a:srgbClr val="9AA5B1"/>
                </a:solidFill>
                <a:latin typeface="맑은 고딕"/>
              </a:rPr>
              <a:t>상세 근거와 전체 출처는 동명 Word 보고서의 부록 A를 참조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Copilot User</dc:creator>
  <cp:keywords/>
  <dc:description/>
  <cp:lastModifiedBy>Copilot User</cp:lastModifiedBy>
  <cp:revision>1</cp:revision>
  <dcterms:created xsi:type="dcterms:W3CDTF">2013-01-27T09:14:16Z</dcterms:created>
  <dcterms:modified xsi:type="dcterms:W3CDTF">2013-01-27T09:15:58Z</dcterms:modified>
  <cp:category/>
</cp:coreProperties>
</file>